
<file path=[Content_Types].xml><?xml version="1.0" encoding="utf-8"?>
<ct:Types xmlns:ct="http://schemas.openxmlformats.org/package/2006/content-types">
  <ct:Default Extension="xml" ContentType="application/xml"/>
  <ct:Default Extension="rels" ContentType="application/vnd.openxmlformats-package.relationships+xml"/>
  <ct:Default Extension="jpeg" ContentType="image/jpeg"/>
  <ct:Default Extension="jpg" ContentType="image/jpg"/>
  <ct:Default Extension="svg" ContentType="image/svg+xml"/>
  <ct:Default Extension="png" ContentType="image/png"/>
  <ct:Default Extension="gif" ContentType="image/gif"/>
  <ct:Default Extension="m4v" ContentType="video/mp4"/>
  <ct:Default Extension="mp4" ContentType="video/mp4"/>
  <ct:Default Extension="vml" ContentType="application/vnd.openxmlformats-officedocument.vmlDrawing"/>
  <ct:Default Extension="xlsx" ContentType="application/vnd.openxmlformats-officedocument.spreadsheetml.sheet"/>
  <ct:Override PartName="/ppt/presentation.xml" ContentType="application/vnd.openxmlformats-officedocument.presentationml.presentation.main+xml"/>
  <ct:Override PartName="/ppt/notesMasters/notesMaster1.xml" ContentType="application/vnd.openxmlformats-officedocument.presentationml.notesMaster+xml"/>
  <ct:Override PartName="/ppt/slideMasters/slideMaster1.xml" ContentType="application/vnd.openxmlformats-officedocument.presentationml.slideMaster+xml"/>
  <ct:Override PartName="/ppt/slides/slide1.xml" ContentType="application/vnd.openxmlformats-officedocument.presentationml.slide+xml"/>
  <ct:Override PartName="/ppt/slideMasters/slideMaster2.xml" ContentType="application/vnd.openxmlformats-officedocument.presentationml.slideMaster+xml"/>
  <ct:Override PartName="/ppt/slides/slide2.xml" ContentType="application/vnd.openxmlformats-officedocument.presentationml.slide+xml"/>
  <ct:Override PartName="/ppt/slideMasters/slideMaster3.xml" ContentType="application/vnd.openxmlformats-officedocument.presentationml.slideMaster+xml"/>
  <ct:Override PartName="/ppt/slides/slide3.xml" ContentType="application/vnd.openxmlformats-officedocument.presentationml.slide+xml"/>
  <ct:Override PartName="/ppt/slideMasters/slideMaster4.xml" ContentType="application/vnd.openxmlformats-officedocument.presentationml.slideMaster+xml"/>
  <ct:Override PartName="/ppt/slides/slide4.xml" ContentType="application/vnd.openxmlformats-officedocument.presentationml.slide+xml"/>
  <ct:Override PartName="/ppt/slideMasters/slideMaster5.xml" ContentType="application/vnd.openxmlformats-officedocument.presentationml.slideMaster+xml"/>
  <ct:Override PartName="/ppt/slides/slide5.xml" ContentType="application/vnd.openxmlformats-officedocument.presentationml.slide+xml"/>
  <ct:Override PartName="/ppt/slideMasters/slideMaster6.xml" ContentType="application/vnd.openxmlformats-officedocument.presentationml.slideMaster+xml"/>
  <ct:Override PartName="/ppt/slides/slide6.xml" ContentType="application/vnd.openxmlformats-officedocument.presentationml.slide+xml"/>
  <ct:Override PartName="/ppt/slideMasters/slideMaster7.xml" ContentType="application/vnd.openxmlformats-officedocument.presentationml.slideMaster+xml"/>
  <ct:Override PartName="/ppt/slides/slide7.xml" ContentType="application/vnd.openxmlformats-officedocument.presentationml.slide+xml"/>
  <ct:Override PartName="/ppt/slideMasters/slideMaster8.xml" ContentType="application/vnd.openxmlformats-officedocument.presentationml.slideMaster+xml"/>
  <ct:Override PartName="/ppt/slides/slide8.xml" ContentType="application/vnd.openxmlformats-officedocument.presentationml.slide+xml"/>
  <ct:Override PartName="/ppt/slideMasters/slideMaster9.xml" ContentType="application/vnd.openxmlformats-officedocument.presentationml.slideMaster+xml"/>
  <ct:Override PartName="/ppt/slides/slide9.xml" ContentType="application/vnd.openxmlformats-officedocument.presentationml.slide+xml"/>
  <ct:Override PartName="/ppt/slideMasters/slideMaster10.xml" ContentType="application/vnd.openxmlformats-officedocument.presentationml.slideMaster+xml"/>
  <ct:Override PartName="/ppt/slides/slide10.xml" ContentType="application/vnd.openxmlformats-officedocument.presentationml.slide+xml"/>
  <ct:Override PartName="/ppt/slideMasters/slideMaster11.xml" ContentType="application/vnd.openxmlformats-officedocument.presentationml.slideMaster+xml"/>
  <ct:Override PartName="/ppt/slides/slide11.xml" ContentType="application/vnd.openxmlformats-officedocument.presentationml.slide+xml"/>
  <ct:Override PartName="/ppt/presProps.xml" ContentType="application/vnd.openxmlformats-officedocument.presentationml.presProps+xml"/>
  <ct:Override PartName="/ppt/viewProps.xml" ContentType="application/vnd.openxmlformats-officedocument.presentationml.viewProps+xml"/>
  <ct:Override PartName="/ppt/theme/theme1.xml" ContentType="application/vnd.openxmlformats-officedocument.theme+xml"/>
  <ct:Override PartName="/ppt/tableStyles.xml" ContentType="application/vnd.openxmlformats-officedocument.presentationml.tableStyles+xml"/>
  <ct:Override PartName="/ppt/slideLayouts/slideLayout1.xml" ContentType="application/vnd.openxmlformats-officedocument.presentationml.slideLayout+xml"/>
  <ct:Override PartName="/ppt/notesSlides/notesSlide1.xml" ContentType="application/vnd.openxmlformats-officedocument.presentationml.notesSlide+xml"/>
  <ct:Override PartName="/ppt/notesSlides/notesSlide2.xml" ContentType="application/vnd.openxmlformats-officedocument.presentationml.notesSlide+xml"/>
  <ct:Override PartName="/ppt/notesSlides/notesSlide3.xml" ContentType="application/vnd.openxmlformats-officedocument.presentationml.notesSlide+xml"/>
  <ct:Override PartName="/ppt/notesSlides/notesSlide4.xml" ContentType="application/vnd.openxmlformats-officedocument.presentationml.notesSlide+xml"/>
  <ct:Override PartName="/ppt/notesSlides/notesSlide5.xml" ContentType="application/vnd.openxmlformats-officedocument.presentationml.notesSlide+xml"/>
  <ct:Override PartName="/ppt/notesSlides/notesSlide6.xml" ContentType="application/vnd.openxmlformats-officedocument.presentationml.notesSlide+xml"/>
  <ct:Override PartName="/ppt/notesSlides/notesSlide7.xml" ContentType="application/vnd.openxmlformats-officedocument.presentationml.notesSlide+xml"/>
  <ct:Override PartName="/ppt/notesSlides/notesSlide8.xml" ContentType="application/vnd.openxmlformats-officedocument.presentationml.notesSlide+xml"/>
  <ct:Override PartName="/ppt/notesSlides/notesSlide9.xml" ContentType="application/vnd.openxmlformats-officedocument.presentationml.notesSlide+xml"/>
  <ct:Override PartName="/ppt/notesSlides/notesSlide10.xml" ContentType="application/vnd.openxmlformats-officedocument.presentationml.notesSlide+xml"/>
  <ct:Override PartName="/ppt/notesSlides/notesSlide11.xml" ContentType="application/vnd.openxmlformats-officedocument.presentationml.notesSlide+xml"/>
  <ct:Override PartName="/docProps/core.xml" ContentType="application/vnd.openxmlformats-package.core-properties+xml"/>
  <ct:Override PartName="/docProps/app.xml" ContentType="application/vnd.openxmlformats-officedocument.extended-properties+xml"/>
  <ct:Override PartName="/ppt/slides/slide12.xml" ContentType="application/vnd.openxmlformats-officedocument.presentationml.slide+xml"/>
  <ct:Override PartName="/ppt/slides/slide13.xml" ContentType="application/vnd.openxmlformats-officedocument.presentationml.slide+xml"/>
  <ct:Override PartName="/ppt/slides/slide14.xml" ContentType="application/vnd.openxmlformats-officedocument.presentationml.slide+xml"/>
  <ct:Override PartName="/ppt/slides/slide15.xml" ContentType="application/vnd.openxmlformats-officedocument.presentationml.slide+xml"/>
  <ct:Override PartName="/ppt/slides/slide16.xml" ContentType="application/vnd.openxmlformats-officedocument.presentationml.slide+xml"/>
  <ct:Override PartName="/ppt/slides/slide17.xml" ContentType="application/vnd.openxmlformats-officedocument.presentationml.slide+xml"/>
  <ct:Override PartName="/ppt/slides/slide18.xml" ContentType="application/vnd.openxmlformats-officedocument.presentationml.slide+xml"/>
  <ct:Override PartName="/ppt/slides/slide19.xml" ContentType="application/vnd.openxmlformats-officedocument.presentationml.slide+xml"/>
  <ct:Override PartName="/ppt/slides/slide20.xml" ContentType="application/vnd.openxmlformats-officedocument.presentationml.slide+xml"/>
  <ct:Override PartName="/ppt/slides/slide21.xml" ContentType="application/vnd.openxmlformats-officedocument.presentationml.slide+xml"/>
</ct: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59" r:id="rId5"/>
    <p:sldId id="267" r:id="rId18"/>
    <p:sldId id="268" r:id="rId19"/>
    <p:sldId id="269" r:id="rId20"/>
    <p:sldId id="270" r:id="rId21"/>
    <p:sldId id="271" r:id="rId22"/>
    <p:sldId id="272" r:id="rId23"/>
    <p:sldId id="261" r:id="rId7"/>
    <p:sldId id="273" r:id="rId24"/>
    <p:sldId id="274" r:id="rId25"/>
    <p:sldId id="275" r:id="rId26"/>
    <p:sldId id="276" r:id="rId27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notesMaster" Target="notesMasters/notesMaster1.xml" /><Relationship Id="rId14" Type="http://schemas.openxmlformats.org/officeDocument/2006/relationships/presProps" Target="presProps.xml" /><Relationship Id="rId15" Type="http://schemas.openxmlformats.org/officeDocument/2006/relationships/viewProps" Target="viewProps.xml" /><Relationship Id="rId16" Type="http://schemas.openxmlformats.org/officeDocument/2006/relationships/theme" Target="theme/theme1.xml" /><Relationship Id="rId17" Type="http://schemas.openxmlformats.org/officeDocument/2006/relationships/tableStyles" Target="tableStyles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12.xml" /><Relationship Id="rId23" Type="http://schemas.openxmlformats.org/officeDocument/2006/relationships/slide" Target="slides/slide13.xml" /><Relationship Id="rId24" Type="http://schemas.openxmlformats.org/officeDocument/2006/relationships/slide" Target="slides/slide14.xml" /><Relationship Id="rId25" Type="http://schemas.openxmlformats.org/officeDocument/2006/relationships/slide" Target="slides/slide15.xml" /><Relationship Id="rId26" Type="http://schemas.openxmlformats.org/officeDocument/2006/relationships/slide" Target="slides/slide16.xml" /><Relationship Id="rId27" Type="http://schemas.openxmlformats.org/officeDocument/2006/relationships/slide" Target="slides/slide17.xml" 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image" Target="../media/image-normal-gap-literature.png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4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image" Target="../media/image-contact-parameter-study.png" /><Relationship Id="rId2" Type="http://schemas.openxmlformats.org/officeDocument/2006/relationships/slideLayout" Target="../slideLayouts/slideLayout1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image" Target="../media/image-final-contact-comparison.png" /><Relationship Id="rId2" Type="http://schemas.openxmlformats.org/officeDocument/2006/relationships/slideLayout" Target="../slideLayouts/slideLayout1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image" Target="../media/image-lagrange-displacement-jacobian.png" /><Relationship Id="rId2" Type="http://schemas.openxmlformats.org/officeDocument/2006/relationships/slideLayout" Target="../slideLayouts/slideLayout1.xm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image" Target="../media/image-lagrange-stress-fields.png" /><Relationship Id="rId2" Type="http://schemas.openxmlformats.org/officeDocument/2006/relationships/slideLayout" Target="../slideLayouts/slideLayout1.xm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image" Target="../media/image-lagrange-stress-profiles.png" /><Relationship Id="rId2" Type="http://schemas.openxmlformats.org/officeDocument/2006/relationships/slideLayout" Target="../slideLayouts/slideLayout1.xml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image" Target="../media/image-surrogate-supplement.png" /><Relationship Id="rId2" Type="http://schemas.openxmlformats.org/officeDocument/2006/relationships/slideLayout" Target="../slideLayouts/slideLayout1.xml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image" Target="../media/image-formula-neo-hookean.png" /><Relationship Id="rId2" Type="http://schemas.openxmlformats.org/officeDocument/2006/relationships/slideLayout" Target="../slideLayouts/slideLayout1.xml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image" Target="../media/image-formula-penalty-method.png" /><Relationship Id="rId2" Type="http://schemas.openxmlformats.org/officeDocument/2006/relationships/slideLayout" Target="../slideLayouts/slideLayout1.xml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image" Target="../media/image-formula-augmented-lagrangian.png" /><Relationship Id="rId2" Type="http://schemas.openxmlformats.org/officeDocument/2006/relationships/slideLayout" Target="../slideLayouts/slideLayout1.xml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image" Target="../media/image-formula-inner-outer-loop.png" /><Relationship Id="rId2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/mnt/data/ppt_media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786652"/>
            <a:ext cx="1325880" cy="13253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7400" y="758952"/>
            <a:ext cx="95097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Министерство науки и высшего образования Российской Федерации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МГТУ им. Н.Э. Баумана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Факультет «Робототехника и комплексная автоматизация»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Кафедра «Прикладная механика (РК-5)»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40080" y="1874520"/>
            <a:ext cx="1088136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2148840"/>
            <a:ext cx="1065276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массивной шины с плоской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опорной поверхностью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77240" y="3520440"/>
            <a:ext cx="10652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Выпускная квалификационная работа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4937760"/>
            <a:ext cx="104698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Выполнил: студент группы РК5-81Б  Миронов М.В.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Руководитель ВКР: Семенов В.К.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5989320"/>
            <a:ext cx="10469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Москва, 2026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Постановка задачи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900" dirty="0"/>
          </a:p>
        </p:txBody>
      </p:sp>
      <p:pic>
        <p:nvPicPr>
          <p:cNvPr id="7" name="Image 0" descr="/mnt/data/ppt_media/ppt/media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76709"/>
            <a:ext cx="4480560" cy="23386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959352"/>
            <a:ext cx="42062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Схема: кольцевой сектор шины и жесткая плоскость</a:t>
            </a:r>
            <a:endParaRPr lang="en-US" sz="1050" dirty="0"/>
          </a:p>
        </p:txBody>
      </p:sp>
      <p:pic>
        <p:nvPicPr>
          <p:cNvPr id="9" name="Image 1" descr="/mnt/data/ppt_media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433" y="4315968"/>
            <a:ext cx="2466975" cy="1600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5925312"/>
            <a:ext cx="42062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Q4-сетка с локальным сгущением в зоне контакта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257800" y="960120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EAF2F8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13248" y="1060704"/>
            <a:ext cx="2423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Расчетная схема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13248" y="1417320"/>
            <a:ext cx="24231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плоская деформация</a:t>
            </a:r>
            <a:endParaRPr lang="en-US" sz="1270" dirty="0"/>
          </a:p>
          <a:p>
            <a:r>
              <a:rPr lang="en-US" sz="12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гладкий контакт без трения</a:t>
            </a:r>
            <a:endParaRPr lang="en-US" sz="1270" dirty="0"/>
          </a:p>
          <a:p>
            <a:r>
              <a:rPr lang="en-US" sz="12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жесткая опорная плоскость</a:t>
            </a:r>
            <a:endParaRPr lang="en-US" sz="1270" dirty="0"/>
          </a:p>
          <a:p>
            <a:r>
              <a:rPr lang="en-US" sz="12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закрепленный внутренний контур</a:t>
            </a:r>
            <a:endParaRPr lang="en-US" sz="1270" dirty="0"/>
          </a:p>
        </p:txBody>
      </p:sp>
      <p:sp>
        <p:nvSpPr>
          <p:cNvPr id="14" name="Shape 10"/>
          <p:cNvSpPr/>
          <p:nvPr/>
        </p:nvSpPr>
        <p:spPr>
          <a:xfrm>
            <a:off x="8275320" y="960120"/>
            <a:ext cx="3429000" cy="1417320"/>
          </a:xfrm>
          <a:prstGeom prst="roundRect">
            <a:avLst>
              <a:gd name="adj" fmla="val 3871"/>
            </a:avLst>
          </a:prstGeom>
          <a:solidFill>
            <a:srgbClr val="EAF2F8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458200" y="1060704"/>
            <a:ext cx="3063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Размеры и нагружение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03920" y="1399032"/>
            <a:ext cx="1417320" cy="182880"/>
          </a:xfrm>
          <a:prstGeom prst="rect">
            <a:avLst/>
          </a:prstGeom>
          <a:solidFill>
            <a:srgbClr val="1F4E79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549640" y="144932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Параметр</a:t>
            </a:r>
            <a:endParaRPr lang="en-US" sz="1120" dirty="0"/>
          </a:p>
        </p:txBody>
      </p:sp>
      <p:sp>
        <p:nvSpPr>
          <p:cNvPr id="18" name="Shape 14"/>
          <p:cNvSpPr/>
          <p:nvPr/>
        </p:nvSpPr>
        <p:spPr>
          <a:xfrm>
            <a:off x="9921240" y="1399032"/>
            <a:ext cx="1554480" cy="182880"/>
          </a:xfrm>
          <a:prstGeom prst="rect">
            <a:avLst/>
          </a:prstGeom>
          <a:solidFill>
            <a:srgbClr val="1F4E79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966960" y="1449324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Значение</a:t>
            </a:r>
            <a:endParaRPr lang="en-US" sz="1120" dirty="0"/>
          </a:p>
        </p:txBody>
      </p:sp>
      <p:sp>
        <p:nvSpPr>
          <p:cNvPr id="20" name="Shape 16"/>
          <p:cNvSpPr/>
          <p:nvPr/>
        </p:nvSpPr>
        <p:spPr>
          <a:xfrm>
            <a:off x="8503920" y="1581912"/>
            <a:ext cx="1417320" cy="182880"/>
          </a:xfrm>
          <a:prstGeom prst="rect">
            <a:avLst/>
          </a:prstGeom>
          <a:solidFill>
            <a:srgbClr val="FFFFFF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549640" y="163220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R₀</a:t>
            </a:r>
            <a:endParaRPr lang="en-US" sz="1130" dirty="0"/>
          </a:p>
        </p:txBody>
      </p:sp>
      <p:sp>
        <p:nvSpPr>
          <p:cNvPr id="22" name="Shape 18"/>
          <p:cNvSpPr/>
          <p:nvPr/>
        </p:nvSpPr>
        <p:spPr>
          <a:xfrm>
            <a:off x="9921240" y="1581912"/>
            <a:ext cx="1554480" cy="182880"/>
          </a:xfrm>
          <a:prstGeom prst="rect">
            <a:avLst/>
          </a:prstGeom>
          <a:solidFill>
            <a:srgbClr val="FFFFFF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966960" y="1632204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250 мм</a:t>
            </a:r>
            <a:endParaRPr lang="en-US" sz="1130" dirty="0"/>
          </a:p>
        </p:txBody>
      </p:sp>
      <p:sp>
        <p:nvSpPr>
          <p:cNvPr id="24" name="Shape 20"/>
          <p:cNvSpPr/>
          <p:nvPr/>
        </p:nvSpPr>
        <p:spPr>
          <a:xfrm>
            <a:off x="8503920" y="1764792"/>
            <a:ext cx="1417320" cy="182880"/>
          </a:xfrm>
          <a:prstGeom prst="rect">
            <a:avLst/>
          </a:prstGeom>
          <a:solidFill>
            <a:srgbClr val="F7FAFC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549640" y="181508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endParaRPr lang="en-US" sz="1130" dirty="0"/>
          </a:p>
        </p:txBody>
      </p:sp>
      <p:sp>
        <p:nvSpPr>
          <p:cNvPr id="26" name="Shape 22"/>
          <p:cNvSpPr/>
          <p:nvPr/>
        </p:nvSpPr>
        <p:spPr>
          <a:xfrm>
            <a:off x="9921240" y="1764792"/>
            <a:ext cx="1554480" cy="182880"/>
          </a:xfrm>
          <a:prstGeom prst="rect">
            <a:avLst/>
          </a:prstGeom>
          <a:solidFill>
            <a:srgbClr val="F7FAFC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966960" y="1815084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300 мм</a:t>
            </a:r>
            <a:endParaRPr lang="en-US" sz="1130" dirty="0"/>
          </a:p>
        </p:txBody>
      </p:sp>
      <p:sp>
        <p:nvSpPr>
          <p:cNvPr id="28" name="Shape 24"/>
          <p:cNvSpPr/>
          <p:nvPr/>
        </p:nvSpPr>
        <p:spPr>
          <a:xfrm>
            <a:off x="8503920" y="1947672"/>
            <a:ext cx="1417320" cy="182880"/>
          </a:xfrm>
          <a:prstGeom prst="rect">
            <a:avLst/>
          </a:prstGeom>
          <a:solidFill>
            <a:srgbClr val="FFFFFF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549640" y="199796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g₀</a:t>
            </a:r>
            <a:endParaRPr lang="en-US" sz="1130" dirty="0"/>
          </a:p>
        </p:txBody>
      </p:sp>
      <p:sp>
        <p:nvSpPr>
          <p:cNvPr id="30" name="Shape 26"/>
          <p:cNvSpPr/>
          <p:nvPr/>
        </p:nvSpPr>
        <p:spPr>
          <a:xfrm>
            <a:off x="9921240" y="1947672"/>
            <a:ext cx="1554480" cy="182880"/>
          </a:xfrm>
          <a:prstGeom prst="rect">
            <a:avLst/>
          </a:prstGeom>
          <a:solidFill>
            <a:srgbClr val="FFFFFF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966960" y="1997964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мм</a:t>
            </a:r>
            <a:endParaRPr lang="en-US" sz="1130" dirty="0"/>
          </a:p>
        </p:txBody>
      </p:sp>
      <p:sp>
        <p:nvSpPr>
          <p:cNvPr id="32" name="Shape 28"/>
          <p:cNvSpPr/>
          <p:nvPr/>
        </p:nvSpPr>
        <p:spPr>
          <a:xfrm>
            <a:off x="8503920" y="2130552"/>
            <a:ext cx="1417320" cy="182880"/>
          </a:xfrm>
          <a:prstGeom prst="rect">
            <a:avLst/>
          </a:prstGeom>
          <a:solidFill>
            <a:srgbClr val="F7FAFC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549640" y="218084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Δuᵧ</a:t>
            </a:r>
            <a:endParaRPr lang="en-US" sz="1130" dirty="0"/>
          </a:p>
        </p:txBody>
      </p:sp>
      <p:sp>
        <p:nvSpPr>
          <p:cNvPr id="34" name="Shape 30"/>
          <p:cNvSpPr/>
          <p:nvPr/>
        </p:nvSpPr>
        <p:spPr>
          <a:xfrm>
            <a:off x="9921240" y="2130552"/>
            <a:ext cx="1554480" cy="182880"/>
          </a:xfrm>
          <a:prstGeom prst="rect">
            <a:avLst/>
          </a:prstGeom>
          <a:solidFill>
            <a:srgbClr val="F7FAFC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9966960" y="2180844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мм</a:t>
            </a:r>
            <a:endParaRPr lang="en-US" sz="1130" dirty="0"/>
          </a:p>
        </p:txBody>
      </p:sp>
      <p:sp>
        <p:nvSpPr>
          <p:cNvPr id="36" name="Shape 32"/>
          <p:cNvSpPr/>
          <p:nvPr/>
        </p:nvSpPr>
        <p:spPr>
          <a:xfrm>
            <a:off x="5257800" y="2697480"/>
            <a:ext cx="2743200" cy="1325880"/>
          </a:xfrm>
          <a:prstGeom prst="roundRect">
            <a:avLst>
              <a:gd name="adj" fmla="val 4138"/>
            </a:avLst>
          </a:prstGeom>
          <a:solidFill>
            <a:srgbClr val="F7FAFC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413248" y="2798064"/>
            <a:ext cx="2423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Материал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5413248" y="3127248"/>
            <a:ext cx="24231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сжимаемая неогуковская модель</a:t>
            </a:r>
            <a:endParaRPr lang="en-US" sz="1270" dirty="0"/>
          </a:p>
          <a:p>
            <a:r>
              <a:rPr lang="en-US" sz="12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почти несжимаемый режим</a:t>
            </a:r>
            <a:endParaRPr lang="en-US" sz="1270" dirty="0"/>
          </a:p>
          <a:p>
            <a:r>
              <a:rPr lang="en-US" sz="12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ν = 0,48</a:t>
            </a:r>
            <a:endParaRPr lang="en-US" sz="1270" dirty="0"/>
          </a:p>
        </p:txBody>
      </p:sp>
      <p:sp>
        <p:nvSpPr>
          <p:cNvPr id="39" name="Shape 35"/>
          <p:cNvSpPr/>
          <p:nvPr/>
        </p:nvSpPr>
        <p:spPr>
          <a:xfrm>
            <a:off x="8503920" y="2880360"/>
            <a:ext cx="1417320" cy="259080"/>
          </a:xfrm>
          <a:prstGeom prst="rect">
            <a:avLst/>
          </a:prstGeom>
          <a:solidFill>
            <a:srgbClr val="1F4E79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8549640" y="2930652"/>
            <a:ext cx="132588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endParaRPr lang="en-US" sz="1120" dirty="0"/>
          </a:p>
        </p:txBody>
      </p:sp>
      <p:sp>
        <p:nvSpPr>
          <p:cNvPr id="41" name="Shape 37"/>
          <p:cNvSpPr/>
          <p:nvPr/>
        </p:nvSpPr>
        <p:spPr>
          <a:xfrm>
            <a:off x="9921240" y="2880360"/>
            <a:ext cx="1554480" cy="259080"/>
          </a:xfrm>
          <a:prstGeom prst="rect">
            <a:avLst/>
          </a:prstGeom>
          <a:solidFill>
            <a:srgbClr val="1F4E79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9966960" y="2930652"/>
            <a:ext cx="1463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11,84 МПа</a:t>
            </a:r>
            <a:endParaRPr lang="en-US" sz="1120" dirty="0"/>
          </a:p>
        </p:txBody>
      </p:sp>
      <p:sp>
        <p:nvSpPr>
          <p:cNvPr id="43" name="Shape 39"/>
          <p:cNvSpPr/>
          <p:nvPr/>
        </p:nvSpPr>
        <p:spPr>
          <a:xfrm>
            <a:off x="8503920" y="3139440"/>
            <a:ext cx="1417320" cy="259080"/>
          </a:xfrm>
          <a:prstGeom prst="rect">
            <a:avLst/>
          </a:prstGeom>
          <a:solidFill>
            <a:srgbClr val="FFFFFF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549640" y="3189732"/>
            <a:ext cx="132588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μ</a:t>
            </a:r>
            <a:endParaRPr lang="en-US" sz="1130" dirty="0"/>
          </a:p>
        </p:txBody>
      </p:sp>
      <p:sp>
        <p:nvSpPr>
          <p:cNvPr id="45" name="Shape 41"/>
          <p:cNvSpPr/>
          <p:nvPr/>
        </p:nvSpPr>
        <p:spPr>
          <a:xfrm>
            <a:off x="9921240" y="3139440"/>
            <a:ext cx="1554480" cy="259080"/>
          </a:xfrm>
          <a:prstGeom prst="rect">
            <a:avLst/>
          </a:prstGeom>
          <a:solidFill>
            <a:srgbClr val="FFFFFF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9966960" y="3189732"/>
            <a:ext cx="1463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4,0 МПа</a:t>
            </a:r>
            <a:endParaRPr lang="en-US" sz="1130" dirty="0"/>
          </a:p>
        </p:txBody>
      </p:sp>
      <p:sp>
        <p:nvSpPr>
          <p:cNvPr id="47" name="Shape 43"/>
          <p:cNvSpPr/>
          <p:nvPr/>
        </p:nvSpPr>
        <p:spPr>
          <a:xfrm>
            <a:off x="8503920" y="3398520"/>
            <a:ext cx="1417320" cy="259080"/>
          </a:xfrm>
          <a:prstGeom prst="rect">
            <a:avLst/>
          </a:prstGeom>
          <a:solidFill>
            <a:srgbClr val="F7FAFC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8549640" y="3448812"/>
            <a:ext cx="132588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endParaRPr lang="en-US" sz="1130" dirty="0"/>
          </a:p>
        </p:txBody>
      </p:sp>
      <p:sp>
        <p:nvSpPr>
          <p:cNvPr id="49" name="Shape 45"/>
          <p:cNvSpPr/>
          <p:nvPr/>
        </p:nvSpPr>
        <p:spPr>
          <a:xfrm>
            <a:off x="9921240" y="3398520"/>
            <a:ext cx="1554480" cy="259080"/>
          </a:xfrm>
          <a:prstGeom prst="rect">
            <a:avLst/>
          </a:prstGeom>
          <a:solidFill>
            <a:srgbClr val="F7FAFC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9966960" y="3448812"/>
            <a:ext cx="1463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98,67 МПа</a:t>
            </a:r>
            <a:endParaRPr lang="en-US" sz="1130" dirty="0"/>
          </a:p>
        </p:txBody>
      </p:sp>
      <p:sp>
        <p:nvSpPr>
          <p:cNvPr id="51" name="Shape 47"/>
          <p:cNvSpPr/>
          <p:nvPr/>
        </p:nvSpPr>
        <p:spPr>
          <a:xfrm>
            <a:off x="5257800" y="4370832"/>
            <a:ext cx="6446520" cy="1078992"/>
          </a:xfrm>
          <a:prstGeom prst="roundRect">
            <a:avLst>
              <a:gd name="adj" fmla="val 5085"/>
            </a:avLst>
          </a:prstGeom>
          <a:solidFill>
            <a:srgbClr val="FFF5DB"/>
          </a:solidFill>
          <a:ln w="8890">
            <a:solidFill>
              <a:srgbClr val="E0C27A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5486400" y="4498848"/>
            <a:ext cx="5989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Используемые методы решения контактной задачи</a:t>
            </a:r>
            <a:endParaRPr lang="en-US" sz="1430" dirty="0"/>
          </a:p>
        </p:txBody>
      </p:sp>
      <p:sp>
        <p:nvSpPr>
          <p:cNvPr id="53" name="Text 49"/>
          <p:cNvSpPr/>
          <p:nvPr/>
        </p:nvSpPr>
        <p:spPr>
          <a:xfrm>
            <a:off x="5532120" y="4864608"/>
            <a:ext cx="571500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8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штрафной метод</a:t>
            </a:r>
            <a:endParaRPr lang="en-US" sz="1280" dirty="0"/>
          </a:p>
          <a:p>
            <a:r>
              <a:rPr lang="en-US" sz="128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модифицированный метод Лагранжа</a:t>
            </a:r>
            <a:endParaRPr lang="en-US" sz="1280" dirty="0"/>
          </a:p>
          <a:p>
            <a:r>
              <a:rPr lang="en-US" sz="128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бесконтактная аппроксимация после восстановления давления</a:t>
            </a:r>
            <a:endParaRPr lang="en-US" sz="12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Вариационные постановки контактной задачи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932688"/>
            <a:ext cx="11201400" cy="804672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042416"/>
            <a:ext cx="2148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Общая гиперупругая задача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926080" y="1033272"/>
            <a:ext cx="80467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Π(u) = ∫Ω₀ W(F(u)) dΩ − Wₑₓₜ(u),      δΠ = 0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3291840" cy="1143000"/>
          </a:xfrm>
          <a:prstGeom prst="roundRect">
            <a:avLst>
              <a:gd name="adj" fmla="val 4800"/>
            </a:avLst>
          </a:prstGeom>
          <a:solidFill>
            <a:srgbClr val="EAF2F8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011680"/>
            <a:ext cx="28346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Контактные условия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5800" y="2404872"/>
            <a:ext cx="2926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gₙ(u) ≥ 0,     pₙ ≥ 0,     pₙ gₙ = 0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13232" y="2761488"/>
            <a:ext cx="283464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gₙ — зазор; pₙ — нормальное давление; активная область неизвестна заранее.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005072" y="1901952"/>
            <a:ext cx="370332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2039112"/>
            <a:ext cx="3291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F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Штрафной метод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24528" y="2432304"/>
            <a:ext cx="32918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Πε(u) = Π(u) + 1/2 ∫Γc εₙ⟨−gₙ(u)⟩₊² dΓ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434840" y="2852928"/>
            <a:ext cx="13258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δΠε(u) = 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89320" y="2852928"/>
            <a:ext cx="13258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pₙ = εₙ⟨−gₙ⟩₊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51960" y="3227832"/>
            <a:ext cx="315468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6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простая реализация</a:t>
            </a:r>
            <a:endParaRPr lang="en-US" sz="1060" dirty="0"/>
          </a:p>
          <a:p>
            <a:r>
              <a:rPr lang="en-US" sz="106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конечная пенетрация</a:t>
            </a:r>
            <a:endParaRPr lang="en-US" sz="1060" dirty="0"/>
          </a:p>
          <a:p>
            <a:r>
              <a:rPr lang="en-US" sz="106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рост εₙ ухудшает обусловленность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8001000" y="1901952"/>
            <a:ext cx="370332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83880" y="2039112"/>
            <a:ext cx="3337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F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Модифицированный метод Лагранжа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11312" y="2377440"/>
            <a:ext cx="32461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ΠAL(u,λ) = Π(u) + ∫Γc λₙ⟨−gₙ⟩₊ dΓ + 1/2 ∫Γc εₙ⟨−gₙ⟩₊² dΓ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8193024" y="2907792"/>
            <a:ext cx="32918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pₙᵏ⁺¹ = ⟨λₙᵏ + εₙ(−gₙ(uᵏ⁺¹))⟩₊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8732520" y="3273552"/>
            <a:ext cx="2148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λₙᵏ⁺¹ = pₙᵏ⁺¹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8275320" y="3547872"/>
            <a:ext cx="30632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6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уточнение множителей</a:t>
            </a:r>
            <a:endParaRPr lang="en-US" sz="1060" dirty="0"/>
          </a:p>
          <a:p>
            <a:r>
              <a:rPr lang="en-US" sz="106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малая пенетрация</a:t>
            </a:r>
            <a:endParaRPr lang="en-US" sz="1060" dirty="0"/>
          </a:p>
          <a:p>
            <a:r>
              <a:rPr lang="en-US" sz="106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больше итераций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502920" y="4343400"/>
            <a:ext cx="11201400" cy="1261872"/>
          </a:xfrm>
          <a:prstGeom prst="roundRect">
            <a:avLst>
              <a:gd name="adj" fmla="val 4348"/>
            </a:avLst>
          </a:prstGeom>
          <a:solidFill>
            <a:srgbClr val="FFF5DB"/>
          </a:solidFill>
          <a:ln w="8890">
            <a:solidFill>
              <a:srgbClr val="E0C2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480560"/>
            <a:ext cx="2148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Конечно-элементные аналоги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063240" y="4462272"/>
            <a:ext cx="7543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8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R(u) = fᵢₙₜ(u) + f꜀(u) − fₑₓₜ = 0,        Kₜ Δu = −R</a:t>
            </a:r>
            <a:endParaRPr lang="en-US" sz="1480" dirty="0"/>
          </a:p>
        </p:txBody>
      </p:sp>
      <p:sp>
        <p:nvSpPr>
          <p:cNvPr id="29" name="Text 27"/>
          <p:cNvSpPr/>
          <p:nvPr/>
        </p:nvSpPr>
        <p:spPr>
          <a:xfrm>
            <a:off x="3063240" y="5010912"/>
            <a:ext cx="388620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8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f꜀ = Σₑ Σq Nᵀ n pₙ JΓ wq</a:t>
            </a:r>
            <a:endParaRPr lang="en-US" sz="1480" dirty="0"/>
          </a:p>
        </p:txBody>
      </p:sp>
      <p:sp>
        <p:nvSpPr>
          <p:cNvPr id="30" name="Text 28"/>
          <p:cNvSpPr/>
          <p:nvPr/>
        </p:nvSpPr>
        <p:spPr>
          <a:xfrm>
            <a:off x="7086600" y="4937760"/>
            <a:ext cx="42062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Контактный вклад интегрируется по фасеткам и точкам Гаусса. Различие методов — в способе вычисления pₙ.</a:t>
            </a:r>
            <a:endParaRPr lang="en-US" sz="12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Геометрический зазор и активный контакт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900" dirty="0"/>
          </a:p>
        </p:txBody>
      </p:sp>
      <p:pic>
        <p:nvPicPr>
          <p:cNvPr id="7" name="Image 0" descr="/mnt/data/ppt_media/ppt/media/imag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22815"/>
            <a:ext cx="6583680" cy="404660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78992"/>
            <a:ext cx="4160520" cy="1298448"/>
          </a:xfrm>
          <a:prstGeom prst="roundRect">
            <a:avLst>
              <a:gd name="adj" fmla="val 4225"/>
            </a:avLst>
          </a:prstGeom>
          <a:solidFill>
            <a:srgbClr val="EAF2F8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71232" y="1207008"/>
            <a:ext cx="3749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Нормальный зазор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18120" y="1627632"/>
            <a:ext cx="3246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gₙ = n · (x − xₚₗ)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360920" y="2697480"/>
            <a:ext cx="4160520" cy="1572768"/>
          </a:xfrm>
          <a:prstGeom prst="roundRect">
            <a:avLst>
              <a:gd name="adj" fmla="val 3488"/>
            </a:avLst>
          </a:prstGeom>
          <a:solidFill>
            <a:srgbClr val="F7FAFC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71232" y="2834640"/>
            <a:ext cx="3749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Состояния точки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726680" y="3246120"/>
            <a:ext cx="356616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gₙ &gt; 0: отрыв, pₙ = 0</a:t>
            </a:r>
            <a:endParaRPr lang="en-US" sz="1450" dirty="0"/>
          </a:p>
          <a:p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gₙ = 0: касание</a:t>
            </a:r>
            <a:endParaRPr lang="en-US" sz="1450" dirty="0"/>
          </a:p>
          <a:p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pₙ &gt; 0: активный контакт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7360920" y="4590288"/>
            <a:ext cx="4160520" cy="1024128"/>
          </a:xfrm>
          <a:prstGeom prst="roundRect">
            <a:avLst>
              <a:gd name="adj" fmla="val 5357"/>
            </a:avLst>
          </a:prstGeom>
          <a:solidFill>
            <a:srgbClr val="FFF5DB"/>
          </a:solidFill>
          <a:ln w="8890">
            <a:solidFill>
              <a:srgbClr val="E0C2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35240" y="4828032"/>
            <a:ext cx="36118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Нелинейность возникает потому, что активная часть границы определяется только в процессе решения.</a:t>
            </a:r>
            <a:endParaRPr lang="en-US" sz="1420" dirty="0"/>
          </a:p>
        </p:txBody>
      </p:sp>
      <p:sp>
        <p:nvSpPr>
          <p:cNvPr id="16" name="Normal Gap Source"/>
          <p:cNvSpPr txBox="1"/>
          <p:nvPr/>
        </p:nvSpPr>
        <p:spPr>
          <a:xfrm>
            <a:off x="502920" y="5372100"/>
            <a:ext cx="6583680" cy="275000"/>
          </a:xfrm>
          <a:prstGeom prst="rect">
            <a:avLst/>
          </a:prstGeom>
        </p:spPr>
        <p:txBody>
          <a:bodyPr wrap="square" rtlCol="0" anchor="t"/>
          <a:lstStyle/>
          <a:p>
            <a:pPr algn="just">
              <a:spcAft>
                <a:spcPts val="850"/>
              </a:spcAft>
            </a:pPr>
            <a:r>
              <a:rPr lang="ru-RU" sz="900">
                <a:latin typeface="Times New Roman"/>
                <a:cs typeface="Times New Roman"/>
              </a:rPr>
              <a:t>Источник рисунка: S. Yamaguchi, Y. Sugawara, M. Takeda, Discover Applied Sciences, 2021, Fig. 2, CC BY 4.0.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Сравнение контактных методов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005840"/>
            <a:ext cx="2103120" cy="419100"/>
          </a:xfrm>
          <a:prstGeom prst="rect">
            <a:avLst/>
          </a:prstGeom>
          <a:solidFill>
            <a:srgbClr val="1F4E79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056132"/>
            <a:ext cx="2011680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Показатель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2670048" y="1005840"/>
            <a:ext cx="1371600" cy="419100"/>
          </a:xfrm>
          <a:prstGeom prst="rect">
            <a:avLst/>
          </a:prstGeom>
          <a:solidFill>
            <a:srgbClr val="1F4E79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15768" y="1056132"/>
            <a:ext cx="1280160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Штрафной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041648" y="1005840"/>
            <a:ext cx="1417320" cy="419100"/>
          </a:xfrm>
          <a:prstGeom prst="rect">
            <a:avLst/>
          </a:prstGeom>
          <a:solidFill>
            <a:srgbClr val="1F4E79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87368" y="1056132"/>
            <a:ext cx="1325880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Модифицированный метод Лагранжа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566928" y="1424940"/>
            <a:ext cx="2103120" cy="419100"/>
          </a:xfrm>
          <a:prstGeom prst="rect">
            <a:avLst/>
          </a:prstGeom>
          <a:solidFill>
            <a:srgbClr val="FFFFFF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1475232"/>
            <a:ext cx="2011680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Суммарная реакция, кН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2670048" y="1424940"/>
            <a:ext cx="1371600" cy="419100"/>
          </a:xfrm>
          <a:prstGeom prst="rect">
            <a:avLst/>
          </a:prstGeom>
          <a:solidFill>
            <a:srgbClr val="FFFFFF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15768" y="1475232"/>
            <a:ext cx="1280160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0,528710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4041648" y="1424940"/>
            <a:ext cx="1417320" cy="419100"/>
          </a:xfrm>
          <a:prstGeom prst="rect">
            <a:avLst/>
          </a:prstGeom>
          <a:solidFill>
            <a:srgbClr val="FFFFFF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87368" y="1475232"/>
            <a:ext cx="1325880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0,529661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566928" y="1844040"/>
            <a:ext cx="2103120" cy="419100"/>
          </a:xfrm>
          <a:prstGeom prst="rect">
            <a:avLst/>
          </a:prstGeom>
          <a:solidFill>
            <a:srgbClr val="F7FAFC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1894332"/>
            <a:ext cx="2011680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Макс. пенетрация, мм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2670048" y="1844040"/>
            <a:ext cx="1371600" cy="419100"/>
          </a:xfrm>
          <a:prstGeom prst="rect">
            <a:avLst/>
          </a:prstGeom>
          <a:solidFill>
            <a:srgbClr val="F7FAFC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15768" y="1894332"/>
            <a:ext cx="1280160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1,179·10⁻²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4041648" y="1844040"/>
            <a:ext cx="1417320" cy="419100"/>
          </a:xfrm>
          <a:prstGeom prst="rect">
            <a:avLst/>
          </a:prstGeom>
          <a:solidFill>
            <a:srgbClr val="F7FAFC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87368" y="1894332"/>
            <a:ext cx="1325880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7,990·10⁻⁹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566928" y="2263140"/>
            <a:ext cx="2103120" cy="419100"/>
          </a:xfrm>
          <a:prstGeom prst="rect">
            <a:avLst/>
          </a:prstGeom>
          <a:solidFill>
            <a:srgbClr val="FFFFFF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" y="2313432"/>
            <a:ext cx="2011680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Нелинейные итерации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2670048" y="2263140"/>
            <a:ext cx="1371600" cy="419100"/>
          </a:xfrm>
          <a:prstGeom prst="rect">
            <a:avLst/>
          </a:prstGeom>
          <a:solidFill>
            <a:srgbClr val="FFFFFF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15768" y="2313432"/>
            <a:ext cx="1280160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76</a:t>
            </a:r>
            <a:endParaRPr lang="en-US" sz="1130" dirty="0"/>
          </a:p>
        </p:txBody>
      </p:sp>
      <p:sp>
        <p:nvSpPr>
          <p:cNvPr id="29" name="Shape 27"/>
          <p:cNvSpPr/>
          <p:nvPr/>
        </p:nvSpPr>
        <p:spPr>
          <a:xfrm>
            <a:off x="4041648" y="2263140"/>
            <a:ext cx="1417320" cy="419100"/>
          </a:xfrm>
          <a:prstGeom prst="rect">
            <a:avLst/>
          </a:prstGeom>
          <a:solidFill>
            <a:srgbClr val="FFFFFF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87368" y="2313432"/>
            <a:ext cx="1325880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547</a:t>
            </a:r>
            <a:endParaRPr lang="en-US" sz="1130" dirty="0"/>
          </a:p>
        </p:txBody>
      </p:sp>
      <p:sp>
        <p:nvSpPr>
          <p:cNvPr id="31" name="Shape 29"/>
          <p:cNvSpPr/>
          <p:nvPr/>
        </p:nvSpPr>
        <p:spPr>
          <a:xfrm>
            <a:off x="566928" y="2682240"/>
            <a:ext cx="2103120" cy="419100"/>
          </a:xfrm>
          <a:prstGeom prst="rect">
            <a:avLst/>
          </a:prstGeom>
          <a:solidFill>
            <a:srgbClr val="F7FAFC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" y="2732532"/>
            <a:ext cx="2011680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Время расчета, с</a:t>
            </a:r>
            <a:endParaRPr lang="en-US" sz="1130" dirty="0"/>
          </a:p>
        </p:txBody>
      </p:sp>
      <p:sp>
        <p:nvSpPr>
          <p:cNvPr id="33" name="Shape 31"/>
          <p:cNvSpPr/>
          <p:nvPr/>
        </p:nvSpPr>
        <p:spPr>
          <a:xfrm>
            <a:off x="2670048" y="2682240"/>
            <a:ext cx="1371600" cy="419100"/>
          </a:xfrm>
          <a:prstGeom prst="rect">
            <a:avLst/>
          </a:prstGeom>
          <a:solidFill>
            <a:srgbClr val="F7FAFC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15768" y="2732532"/>
            <a:ext cx="1280160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97,44</a:t>
            </a:r>
            <a:endParaRPr lang="en-US" sz="1130" dirty="0"/>
          </a:p>
        </p:txBody>
      </p:sp>
      <p:sp>
        <p:nvSpPr>
          <p:cNvPr id="35" name="Shape 33"/>
          <p:cNvSpPr/>
          <p:nvPr/>
        </p:nvSpPr>
        <p:spPr>
          <a:xfrm>
            <a:off x="4041648" y="2682240"/>
            <a:ext cx="1417320" cy="419100"/>
          </a:xfrm>
          <a:prstGeom prst="rect">
            <a:avLst/>
          </a:prstGeom>
          <a:solidFill>
            <a:srgbClr val="F7FAFC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87368" y="2732532"/>
            <a:ext cx="1325880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1067,50</a:t>
            </a:r>
            <a:endParaRPr lang="en-US" sz="1130" dirty="0"/>
          </a:p>
        </p:txBody>
      </p:sp>
      <p:sp>
        <p:nvSpPr>
          <p:cNvPr id="37" name="Shape 35"/>
          <p:cNvSpPr/>
          <p:nvPr/>
        </p:nvSpPr>
        <p:spPr>
          <a:xfrm>
            <a:off x="566928" y="3101340"/>
            <a:ext cx="2103120" cy="419100"/>
          </a:xfrm>
          <a:prstGeom prst="rect">
            <a:avLst/>
          </a:prstGeom>
          <a:solidFill>
            <a:srgbClr val="FFFFFF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" y="3151632"/>
            <a:ext cx="2011680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Длина пятна, мм</a:t>
            </a:r>
            <a:endParaRPr lang="en-US" sz="1130" dirty="0"/>
          </a:p>
        </p:txBody>
      </p:sp>
      <p:sp>
        <p:nvSpPr>
          <p:cNvPr id="39" name="Shape 37"/>
          <p:cNvSpPr/>
          <p:nvPr/>
        </p:nvSpPr>
        <p:spPr>
          <a:xfrm>
            <a:off x="2670048" y="3101340"/>
            <a:ext cx="1371600" cy="419100"/>
          </a:xfrm>
          <a:prstGeom prst="rect">
            <a:avLst/>
          </a:prstGeom>
          <a:solidFill>
            <a:srgbClr val="FFFFFF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15768" y="3151632"/>
            <a:ext cx="1280160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127,027</a:t>
            </a:r>
            <a:endParaRPr lang="en-US" sz="1130" dirty="0"/>
          </a:p>
        </p:txBody>
      </p:sp>
      <p:sp>
        <p:nvSpPr>
          <p:cNvPr id="41" name="Shape 39"/>
          <p:cNvSpPr/>
          <p:nvPr/>
        </p:nvSpPr>
        <p:spPr>
          <a:xfrm>
            <a:off x="4041648" y="3101340"/>
            <a:ext cx="1417320" cy="419100"/>
          </a:xfrm>
          <a:prstGeom prst="rect">
            <a:avLst/>
          </a:prstGeom>
          <a:solidFill>
            <a:srgbClr val="FFFFFF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87368" y="3151632"/>
            <a:ext cx="1325880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127,027</a:t>
            </a:r>
            <a:endParaRPr lang="en-US" sz="1130" dirty="0"/>
          </a:p>
        </p:txBody>
      </p:sp>
      <p:sp>
        <p:nvSpPr>
          <p:cNvPr id="43" name="Text 41"/>
          <p:cNvSpPr/>
          <p:nvPr/>
        </p:nvSpPr>
        <p:spPr>
          <a:xfrm>
            <a:off x="5806440" y="1024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0,18 %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5806440" y="14081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различие суммарной реакции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7909560" y="1024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F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≈10⁶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7909560" y="14081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снижение пенетрации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0012680" y="10241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E2F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≈11×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10012680" y="140817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рост времени расчета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715000" y="2057400"/>
            <a:ext cx="57150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97880" y="2176272"/>
            <a:ext cx="53492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Максимальная пенетрация, мм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5989320" y="244144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Штрафной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989320" y="3017520"/>
            <a:ext cx="2331720" cy="0"/>
          </a:xfrm>
          <a:prstGeom prst="line">
            <a:avLst/>
          </a:prstGeom>
          <a:noFill/>
          <a:ln w="10160">
            <a:solidFill>
              <a:srgbClr val="C7D3D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89320" y="2697480"/>
            <a:ext cx="2331720" cy="274320"/>
          </a:xfrm>
          <a:prstGeom prst="rect">
            <a:avLst/>
          </a:prstGeom>
          <a:solidFill>
            <a:srgbClr val="9E2F2F"/>
          </a:solidFill>
          <a:ln w="12700">
            <a:solidFill>
              <a:srgbClr val="9E2F2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9320" y="306324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1,179·10⁻²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8732520" y="244144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Модифицированный метод Лагранжа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8732520" y="3017520"/>
            <a:ext cx="2331720" cy="0"/>
          </a:xfrm>
          <a:prstGeom prst="line">
            <a:avLst/>
          </a:prstGeom>
          <a:noFill/>
          <a:ln w="10160">
            <a:solidFill>
              <a:srgbClr val="C7D3D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732520" y="2697480"/>
            <a:ext cx="45720" cy="27432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732520" y="306324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7,990·10⁻⁹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5715000" y="3794760"/>
            <a:ext cx="57150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97880" y="3913632"/>
            <a:ext cx="53492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Время расчета, с</a:t>
            </a:r>
            <a:endParaRPr lang="en-US" sz="1350" dirty="0"/>
          </a:p>
        </p:txBody>
      </p:sp>
      <p:sp>
        <p:nvSpPr>
          <p:cNvPr id="61" name="Text 59"/>
          <p:cNvSpPr/>
          <p:nvPr/>
        </p:nvSpPr>
        <p:spPr>
          <a:xfrm>
            <a:off x="5989320" y="417880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Штрафной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5989320" y="4754880"/>
            <a:ext cx="2331720" cy="0"/>
          </a:xfrm>
          <a:prstGeom prst="line">
            <a:avLst/>
          </a:prstGeom>
          <a:noFill/>
          <a:ln w="10160">
            <a:solidFill>
              <a:srgbClr val="C7D3D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989320" y="4434840"/>
            <a:ext cx="212836" cy="274320"/>
          </a:xfrm>
          <a:prstGeom prst="rect">
            <a:avLst/>
          </a:prstGeom>
          <a:solidFill>
            <a:srgbClr val="9E2F2F"/>
          </a:solidFill>
          <a:ln w="12700">
            <a:solidFill>
              <a:srgbClr val="9E2F2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89320" y="480060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97,44</a:t>
            </a:r>
            <a:endParaRPr lang="en-US" sz="1250" dirty="0"/>
          </a:p>
        </p:txBody>
      </p:sp>
      <p:sp>
        <p:nvSpPr>
          <p:cNvPr id="65" name="Text 63"/>
          <p:cNvSpPr/>
          <p:nvPr/>
        </p:nvSpPr>
        <p:spPr>
          <a:xfrm>
            <a:off x="8732520" y="417880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Модифицированный метод Лагранжа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8732520" y="4754880"/>
            <a:ext cx="2331720" cy="0"/>
          </a:xfrm>
          <a:prstGeom prst="line">
            <a:avLst/>
          </a:prstGeom>
          <a:noFill/>
          <a:ln w="10160">
            <a:solidFill>
              <a:srgbClr val="C7D3D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732520" y="4434840"/>
            <a:ext cx="2331720" cy="274320"/>
          </a:xfrm>
          <a:prstGeom prst="rect">
            <a:avLst/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732520" y="480060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1067,50</a:t>
            </a:r>
            <a:endParaRPr lang="en-US" sz="1250" dirty="0"/>
          </a:p>
        </p:txBody>
      </p:sp>
      <p:sp>
        <p:nvSpPr>
          <p:cNvPr id="69" name="Shape 67"/>
          <p:cNvSpPr/>
          <p:nvPr/>
        </p:nvSpPr>
        <p:spPr>
          <a:xfrm>
            <a:off x="594360" y="4069080"/>
            <a:ext cx="4800600" cy="1170432"/>
          </a:xfrm>
          <a:prstGeom prst="roundRect">
            <a:avLst>
              <a:gd name="adj" fmla="val 4688"/>
            </a:avLst>
          </a:prstGeom>
          <a:solidFill>
            <a:srgbClr val="FFF5DB"/>
          </a:solidFill>
          <a:ln w="8890">
            <a:solidFill>
              <a:srgbClr val="E0C27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41248" y="4370832"/>
            <a:ext cx="434340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3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интегральная реакция практически совпала</a:t>
            </a:r>
            <a:endParaRPr lang="en-US" sz="1330" dirty="0"/>
          </a:p>
          <a:p>
            <a:r>
              <a:rPr lang="en-US" sz="13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модифицированный метод Лагранжа почти устранил проникание</a:t>
            </a:r>
            <a:endParaRPr lang="en-US" sz="1330" dirty="0"/>
          </a:p>
          <a:p>
            <a:r>
              <a:rPr lang="en-US" sz="13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цена точности — рост числа итераций и времени</a:t>
            </a:r>
            <a:endParaRPr lang="en-US" sz="13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Локальная картина контакта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900" dirty="0"/>
          </a:p>
        </p:txBody>
      </p:sp>
      <p:pic>
        <p:nvPicPr>
          <p:cNvPr id="7" name="Image 0" descr="/mnt/data/ppt_media/ppt/media/image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00680"/>
            <a:ext cx="6766560" cy="444515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98080" y="987552"/>
            <a:ext cx="3886200" cy="1024128"/>
          </a:xfrm>
          <a:prstGeom prst="roundRect">
            <a:avLst>
              <a:gd name="adj" fmla="val 5357"/>
            </a:avLst>
          </a:prstGeom>
          <a:solidFill>
            <a:srgbClr val="EAF2F8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26680" y="1133856"/>
            <a:ext cx="3429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Почему одной реакции мало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726680" y="1536192"/>
            <a:ext cx="33375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RN — только интеграл</a:t>
            </a:r>
            <a:endParaRPr lang="en-US" sz="1270" dirty="0"/>
          </a:p>
          <a:p>
            <a:r>
              <a:rPr lang="en-US" sz="12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важна форма эпюры давления</a:t>
            </a:r>
            <a:endParaRPr lang="en-US" sz="1270" dirty="0"/>
          </a:p>
          <a:p>
            <a:r>
              <a:rPr lang="en-US" sz="12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локальные максимумы задают зоны напряжений</a:t>
            </a:r>
            <a:endParaRPr lang="en-US" sz="1270" dirty="0"/>
          </a:p>
        </p:txBody>
      </p:sp>
      <p:sp>
        <p:nvSpPr>
          <p:cNvPr id="11" name="Shape 8"/>
          <p:cNvSpPr/>
          <p:nvPr/>
        </p:nvSpPr>
        <p:spPr>
          <a:xfrm>
            <a:off x="7498080" y="2423160"/>
            <a:ext cx="3886200" cy="1133856"/>
          </a:xfrm>
          <a:prstGeom prst="roundRect">
            <a:avLst>
              <a:gd name="adj" fmla="val 4839"/>
            </a:avLst>
          </a:prstGeom>
          <a:solidFill>
            <a:srgbClr val="F7FAFC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26680" y="2578608"/>
            <a:ext cx="3429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Результат модифицированного метода Лагранжа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26680" y="2990088"/>
            <a:ext cx="33375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pmax = 5,90587 МПа</a:t>
            </a:r>
            <a:endParaRPr lang="en-US" sz="1270" dirty="0"/>
          </a:p>
          <a:p>
            <a:r>
              <a:rPr lang="en-US" sz="12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полуширина пятна 61,05 мм</a:t>
            </a:r>
            <a:endParaRPr lang="en-US" sz="1270" dirty="0"/>
          </a:p>
          <a:p>
            <a:r>
              <a:rPr lang="en-US" sz="12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давление задает локальное нагружение</a:t>
            </a:r>
            <a:endParaRPr lang="en-US" sz="1270" dirty="0"/>
          </a:p>
        </p:txBody>
      </p:sp>
      <p:sp>
        <p:nvSpPr>
          <p:cNvPr id="14" name="Shape 11"/>
          <p:cNvSpPr/>
          <p:nvPr/>
        </p:nvSpPr>
        <p:spPr>
          <a:xfrm>
            <a:off x="7498080" y="4041648"/>
            <a:ext cx="3886200" cy="1069848"/>
          </a:xfrm>
          <a:prstGeom prst="roundRect">
            <a:avLst>
              <a:gd name="adj" fmla="val 5128"/>
            </a:avLst>
          </a:prstGeom>
          <a:solidFill>
            <a:srgbClr val="FFF5DB"/>
          </a:solidFill>
          <a:ln w="8890">
            <a:solidFill>
              <a:srgbClr val="E0C2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26680" y="4279392"/>
            <a:ext cx="34290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Модифицированный метод Лагранжа выбран как уточняющая постановка, потому что точнее выполняет непроникновение.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Бесконтактная аппроксимация восстановленной нагрузкой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900" dirty="0"/>
          </a:p>
        </p:txBody>
      </p:sp>
      <p:pic>
        <p:nvPicPr>
          <p:cNvPr id="7" name="Image 0" descr="/mnt/data/ppt_media/ppt/media/image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16362"/>
            <a:ext cx="4023360" cy="17106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983480" y="1005840"/>
            <a:ext cx="6492240" cy="9144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3520" y="1261872"/>
            <a:ext cx="5852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Идея: один раз решить явную контактную задачу, затем заменить найденное давление заданной нагрузкой.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303520" y="2240280"/>
            <a:ext cx="5806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p(ξ) = pmax(1 − ξ²/a²),   |ξ| ≤ a;        p(ξ) = 0,   |ξ| &gt; a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22960" y="3657600"/>
            <a:ext cx="1920240" cy="301752"/>
          </a:xfrm>
          <a:prstGeom prst="rect">
            <a:avLst/>
          </a:prstGeom>
          <a:solidFill>
            <a:srgbClr val="1F4E79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37078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Параметр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2743200" y="3657600"/>
            <a:ext cx="1920240" cy="301752"/>
          </a:xfrm>
          <a:prstGeom prst="rect">
            <a:avLst/>
          </a:prstGeom>
          <a:solidFill>
            <a:srgbClr val="1F4E79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88920" y="37078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Основная сетка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22960" y="3959352"/>
            <a:ext cx="1920240" cy="301752"/>
          </a:xfrm>
          <a:prstGeom prst="rect">
            <a:avLst/>
          </a:prstGeom>
          <a:solidFill>
            <a:srgbClr val="FFFFFF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40096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pmax</a:t>
            </a:r>
            <a:endParaRPr lang="en-US" sz="1130" dirty="0"/>
          </a:p>
        </p:txBody>
      </p:sp>
      <p:sp>
        <p:nvSpPr>
          <p:cNvPr id="17" name="Shape 14"/>
          <p:cNvSpPr/>
          <p:nvPr/>
        </p:nvSpPr>
        <p:spPr>
          <a:xfrm>
            <a:off x="2743200" y="3959352"/>
            <a:ext cx="1920240" cy="301752"/>
          </a:xfrm>
          <a:prstGeom prst="rect">
            <a:avLst/>
          </a:prstGeom>
          <a:solidFill>
            <a:srgbClr val="FFFFFF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88920" y="40096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5,90587 МПа</a:t>
            </a:r>
            <a:endParaRPr lang="en-US" sz="1130" dirty="0"/>
          </a:p>
        </p:txBody>
      </p:sp>
      <p:sp>
        <p:nvSpPr>
          <p:cNvPr id="19" name="Shape 16"/>
          <p:cNvSpPr/>
          <p:nvPr/>
        </p:nvSpPr>
        <p:spPr>
          <a:xfrm>
            <a:off x="822960" y="4261104"/>
            <a:ext cx="1920240" cy="301752"/>
          </a:xfrm>
          <a:prstGeom prst="rect">
            <a:avLst/>
          </a:prstGeom>
          <a:solidFill>
            <a:srgbClr val="F7FAFC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43113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Полуугол</a:t>
            </a:r>
            <a:endParaRPr lang="en-US" sz="1130" dirty="0"/>
          </a:p>
        </p:txBody>
      </p:sp>
      <p:sp>
        <p:nvSpPr>
          <p:cNvPr id="21" name="Shape 18"/>
          <p:cNvSpPr/>
          <p:nvPr/>
        </p:nvSpPr>
        <p:spPr>
          <a:xfrm>
            <a:off x="2743200" y="4261104"/>
            <a:ext cx="1920240" cy="301752"/>
          </a:xfrm>
          <a:prstGeom prst="rect">
            <a:avLst/>
          </a:prstGeom>
          <a:solidFill>
            <a:srgbClr val="F7FAFC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88920" y="43113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11,7418°</a:t>
            </a:r>
            <a:endParaRPr lang="en-US" sz="1130" dirty="0"/>
          </a:p>
        </p:txBody>
      </p:sp>
      <p:sp>
        <p:nvSpPr>
          <p:cNvPr id="23" name="Shape 20"/>
          <p:cNvSpPr/>
          <p:nvPr/>
        </p:nvSpPr>
        <p:spPr>
          <a:xfrm>
            <a:off x="822960" y="4562856"/>
            <a:ext cx="1920240" cy="301752"/>
          </a:xfrm>
          <a:prstGeom prst="rect">
            <a:avLst/>
          </a:prstGeom>
          <a:solidFill>
            <a:srgbClr val="FFFFFF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8680" y="46131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130" dirty="0"/>
          </a:p>
        </p:txBody>
      </p:sp>
      <p:sp>
        <p:nvSpPr>
          <p:cNvPr id="25" name="Shape 22"/>
          <p:cNvSpPr/>
          <p:nvPr/>
        </p:nvSpPr>
        <p:spPr>
          <a:xfrm>
            <a:off x="2743200" y="4562856"/>
            <a:ext cx="1920240" cy="301752"/>
          </a:xfrm>
          <a:prstGeom prst="rect">
            <a:avLst/>
          </a:prstGeom>
          <a:solidFill>
            <a:srgbClr val="FFFFFF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88920" y="46131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61,0489 мм</a:t>
            </a:r>
            <a:endParaRPr lang="en-US" sz="1130" dirty="0"/>
          </a:p>
        </p:txBody>
      </p:sp>
      <p:sp>
        <p:nvSpPr>
          <p:cNvPr id="27" name="Shape 24"/>
          <p:cNvSpPr/>
          <p:nvPr/>
        </p:nvSpPr>
        <p:spPr>
          <a:xfrm>
            <a:off x="822960" y="4864608"/>
            <a:ext cx="1920240" cy="301752"/>
          </a:xfrm>
          <a:prstGeom prst="rect">
            <a:avLst/>
          </a:prstGeom>
          <a:solidFill>
            <a:srgbClr val="F7FAFC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68680" y="49149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Время</a:t>
            </a:r>
            <a:endParaRPr lang="en-US" sz="1130" dirty="0"/>
          </a:p>
        </p:txBody>
      </p:sp>
      <p:sp>
        <p:nvSpPr>
          <p:cNvPr id="29" name="Shape 26"/>
          <p:cNvSpPr/>
          <p:nvPr/>
        </p:nvSpPr>
        <p:spPr>
          <a:xfrm>
            <a:off x="2743200" y="4864608"/>
            <a:ext cx="1920240" cy="301752"/>
          </a:xfrm>
          <a:prstGeom prst="rect">
            <a:avLst/>
          </a:prstGeom>
          <a:solidFill>
            <a:srgbClr val="F7FAFC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788920" y="49149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54,17 с</a:t>
            </a:r>
            <a:endParaRPr lang="en-US" sz="1130" dirty="0"/>
          </a:p>
        </p:txBody>
      </p:sp>
      <p:sp>
        <p:nvSpPr>
          <p:cNvPr id="31" name="Shape 28"/>
          <p:cNvSpPr/>
          <p:nvPr/>
        </p:nvSpPr>
        <p:spPr>
          <a:xfrm>
            <a:off x="5212080" y="3401568"/>
            <a:ext cx="2834640" cy="1417320"/>
          </a:xfrm>
          <a:prstGeom prst="roundRect">
            <a:avLst>
              <a:gd name="adj" fmla="val 3871"/>
            </a:avLst>
          </a:prstGeom>
          <a:solidFill>
            <a:srgbClr val="EAF2F8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32120" y="3547872"/>
            <a:ext cx="2194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Плюс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5513832" y="3959352"/>
            <a:ext cx="22402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быстрый повторный расчет</a:t>
            </a:r>
            <a:endParaRPr lang="en-US" sz="1300" dirty="0"/>
          </a:p>
          <a:p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нет поиска активного контакта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8366760" y="3401568"/>
            <a:ext cx="2834640" cy="1417320"/>
          </a:xfrm>
          <a:prstGeom prst="roundRect">
            <a:avLst>
              <a:gd name="adj" fmla="val 3871"/>
            </a:avLst>
          </a:prstGeom>
          <a:solidFill>
            <a:srgbClr val="FFF5DB"/>
          </a:solidFill>
          <a:ln w="8890">
            <a:solidFill>
              <a:srgbClr val="E0C27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686800" y="3547872"/>
            <a:ext cx="2194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Минус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8668512" y="3959352"/>
            <a:ext cx="22402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зазор не контролируется</a:t>
            </a:r>
            <a:endParaRPr lang="en-US" sz="1300" dirty="0"/>
          </a:p>
          <a:p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давление не обновляется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Сравнение полей перемещений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900" dirty="0"/>
          </a:p>
        </p:txBody>
      </p:sp>
      <p:pic>
        <p:nvPicPr>
          <p:cNvPr id="7" name="Image 0" descr="/mnt/data/ppt_media/ppt/media/image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1405"/>
            <a:ext cx="11155680" cy="38008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60120" y="5513832"/>
            <a:ext cx="10241280" cy="502920"/>
          </a:xfrm>
          <a:prstGeom prst="roundRect">
            <a:avLst>
              <a:gd name="adj" fmla="val 10909"/>
            </a:avLst>
          </a:prstGeom>
          <a:solidFill>
            <a:srgbClr val="EAF2F8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5650992"/>
            <a:ext cx="9875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Восстановленная нагрузка качественно передает общую осадку. Локальные отличия ожидаемы у внешнего контура.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Сравнение эквивалентных напряжений по Мизесу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900" dirty="0"/>
          </a:p>
        </p:txBody>
      </p:sp>
      <p:pic>
        <p:nvPicPr>
          <p:cNvPr id="7" name="Image 0" descr="/mnt/data/ppt_media/ppt/media/image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1405"/>
            <a:ext cx="11155680" cy="38008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60120" y="5513832"/>
            <a:ext cx="10241280" cy="502920"/>
          </a:xfrm>
          <a:prstGeom prst="roundRect">
            <a:avLst>
              <a:gd name="adj" fmla="val 10909"/>
            </a:avLst>
          </a:prstGeom>
          <a:solidFill>
            <a:srgbClr val="EAF2F8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5650992"/>
            <a:ext cx="9875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Общая зона локализации напряжений сохраняется; расхождения концентрируются вблизи краев пятна контакта.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Сравнение плотности энергии деформации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900" dirty="0"/>
          </a:p>
        </p:txBody>
      </p:sp>
      <p:pic>
        <p:nvPicPr>
          <p:cNvPr id="7" name="Image 0" descr="/mnt/data/ppt_media/ppt/media/image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1405"/>
            <a:ext cx="11155680" cy="38008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60120" y="5513832"/>
            <a:ext cx="10241280" cy="502920"/>
          </a:xfrm>
          <a:prstGeom prst="roundRect">
            <a:avLst>
              <a:gd name="adj" fmla="val 10909"/>
            </a:avLst>
          </a:prstGeom>
          <a:solidFill>
            <a:srgbClr val="EAF2F8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5650992"/>
            <a:ext cx="9875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Восстановленная нагрузка передает общий энергетический уровень, но не заменяет контактный алгоритм для нового режима нагружения.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Заключение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Conclusion Text"/>
          <p:cNvSpPr txBox="1"/>
          <p:nvPr/>
        </p:nvSpPr>
        <p:spPr>
          <a:xfrm>
            <a:off x="731520" y="1005840"/>
            <a:ext cx="10668000" cy="5166360"/>
          </a:xfrm>
          <a:prstGeom prst="rect">
            <a:avLst/>
          </a:prstGeom>
        </p:spPr>
        <p:txBody>
          <a:bodyPr wrap="square" rtlCol="0" anchor="t"/>
          <a:lstStyle/>
          <a:p>
            <a:pPr algn="just">
              <a:spcAft>
                <a:spcPts val="850"/>
              </a:spcAft>
            </a:pPr>
            <a:r>
              <a:rPr lang="ru-RU" sz="1800">
                <a:latin typeface="Times New Roman"/>
                <a:cs typeface="Times New Roman"/>
              </a:rPr>
              <a:t>В работе рассмотрена контактная задача массивной шины с жесткой плоской опорной поверхностью в конечно-деформационной постановке. Материал шины задан сжимаемой неогуковской моделью в почти несжимаемом режиме; контакт считается гладким, без трения, с неизвестной заранее активной областью.</a:t>
            </a:r>
          </a:p>
          <a:p>
            <a:pPr algn="just">
              <a:spcAft>
                <a:spcPts val="850"/>
              </a:spcAft>
            </a:pPr>
            <a:r>
              <a:rPr lang="ru-RU" sz="1800">
                <a:latin typeface="Times New Roman"/>
                <a:cs typeface="Times New Roman"/>
              </a:rPr>
              <a:t>Сравнение штрафного метода и модифицированного метода Лагранжа показало, что оба подхода дают близкую интегральную реакцию и близкую форму пятна контакта. Основное различие проявляется в качестве выполнения условия непроникновения: штрафной метод дешевле и устойчивее как инженерный расчет, а модифицированный метод Лагранжа существенно снижает проникание ценой большего числа итераций.</a:t>
            </a:r>
          </a:p>
          <a:p>
            <a:pPr algn="just">
              <a:spcAft>
                <a:spcPts val="850"/>
              </a:spcAft>
            </a:pPr>
            <a:r>
              <a:rPr lang="ru-RU" sz="1800">
                <a:latin typeface="Times New Roman"/>
                <a:cs typeface="Times New Roman"/>
              </a:rPr>
              <a:t>Для инженерной интерпретации контакта наиболее информативны не только суммарная реакция, но и распределение контактного давления по дуге, активная зона и поля напряжений в шине. Бесконтактная аппроксимация восстановленной нагрузкой подтверждает близость общей картины деформированно-напряженного состояния, но не заменяет контактную постановку.</a:t>
            </a:r>
          </a:p>
          <a:p>
            <a:pPr algn="just">
              <a:spcAft>
                <a:spcPts val="850"/>
              </a:spcAft>
            </a:pPr>
            <a:r>
              <a:rPr lang="ru-RU" sz="1800">
                <a:latin typeface="Times New Roman"/>
                <a:cs typeface="Times New Roman"/>
              </a:rPr>
              <a:t>Полученная модель является базовой расчетной схемой для дальнейшего развития: учета трения, смешанной u/p-постановки для почти несжимаемости, более сложных резиноподобных материалов и перехода к пространственной модели шины.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Чувствительность методов к параметру и сетке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900" dirty="0"/>
          </a:p>
        </p:txBody>
      </p:sp>
      <p:pic>
        <p:nvPicPr>
          <p:cNvPr id="7" name="Image 0" descr="/mnt/data/ppt_media/ppt/media/image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1405"/>
            <a:ext cx="11155680" cy="38008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60120" y="5513832"/>
            <a:ext cx="10241280" cy="502920"/>
          </a:xfrm>
          <a:prstGeom prst="roundRect">
            <a:avLst>
              <a:gd name="adj" fmla="val 10909"/>
            </a:avLst>
          </a:prstGeom>
          <a:solidFill>
            <a:srgbClr val="EAF2F8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5650992"/>
            <a:ext cx="9875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Серия расчетов показывает компромисс: штрафной метод проще и устойчивее, модифицированный метод Лагранжа лучше подавляет проникание, но требует более дорогой итерационной настройки.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Финальное сравнение контактных постановок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900" dirty="0"/>
          </a:p>
        </p:txBody>
      </p:sp>
      <p:pic>
        <p:nvPicPr>
          <p:cNvPr id="7" name="Image 0" descr="/mnt/data/ppt_media/ppt/media/image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1405"/>
            <a:ext cx="11155680" cy="38008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60120" y="5513832"/>
            <a:ext cx="10241280" cy="502920"/>
          </a:xfrm>
          <a:prstGeom prst="roundRect">
            <a:avLst>
              <a:gd name="adj" fmla="val 10909"/>
            </a:avLst>
          </a:prstGeom>
          <a:solidFill>
            <a:srgbClr val="EAF2F8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5650992"/>
            <a:ext cx="9875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Интегральная реакция и пятно контакта близки; главное отличие проявляется в контроле проникания и вычислительной цене метода.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Деформированное состояние: модифицированный метод Лагранжа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900" dirty="0"/>
          </a:p>
        </p:txBody>
      </p:sp>
      <p:pic>
        <p:nvPicPr>
          <p:cNvPr id="7" name="Image 0" descr="/mnt/data/ppt_media/ppt/media/image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1405"/>
            <a:ext cx="11155680" cy="38008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60120" y="5513832"/>
            <a:ext cx="10241280" cy="502920"/>
          </a:xfrm>
          <a:prstGeom prst="roundRect">
            <a:avLst>
              <a:gd name="adj" fmla="val 10909"/>
            </a:avLst>
          </a:prstGeom>
          <a:solidFill>
            <a:srgbClr val="EAF2F8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5650992"/>
            <a:ext cx="9875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Расчет показывает конечные деформации шины в зоне контакта; det(F) остается близким к единице, что соответствует почти несжимаемому материалу.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Напряженное состояние: модифицированный метод Лагранжа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900" dirty="0"/>
          </a:p>
        </p:txBody>
      </p:sp>
      <p:pic>
        <p:nvPicPr>
          <p:cNvPr id="7" name="Image 0" descr="/mnt/data/ppt_media/ppt/media/image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1405"/>
            <a:ext cx="11155680" cy="38008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60120" y="5513832"/>
            <a:ext cx="10241280" cy="502920"/>
          </a:xfrm>
          <a:prstGeom prst="roundRect">
            <a:avLst>
              <a:gd name="adj" fmla="val 10909"/>
            </a:avLst>
          </a:prstGeom>
          <a:solidFill>
            <a:srgbClr val="EAF2F8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5650992"/>
            <a:ext cx="9875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Максимальные напряжения локализуются в зоне контакта и переходных участках кольцевого сектора; картина соответствует изгибу и локальному сжатию шины.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Профили напряжений в сечениях шины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900" dirty="0"/>
          </a:p>
        </p:txBody>
      </p:sp>
      <p:pic>
        <p:nvPicPr>
          <p:cNvPr id="7" name="Image 0" descr="/mnt/data/ppt_media/ppt/media/image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1405"/>
            <a:ext cx="11155680" cy="38008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60120" y="5513832"/>
            <a:ext cx="10241280" cy="502920"/>
          </a:xfrm>
          <a:prstGeom prst="roundRect">
            <a:avLst>
              <a:gd name="adj" fmla="val 10909"/>
            </a:avLst>
          </a:prstGeom>
          <a:solidFill>
            <a:srgbClr val="EAF2F8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5650992"/>
            <a:ext cx="9875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Профили по внутреннему, среднему и внешнему контурам показывают, как компоненты напряжений меняются вдоль зоны контакта.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Бесконтактная аппроксимация как дополнительная проверка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900" dirty="0"/>
          </a:p>
        </p:txBody>
      </p:sp>
      <p:pic>
        <p:nvPicPr>
          <p:cNvPr id="7" name="Image 0" descr="/mnt/data/ppt_media/ppt/media/image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1405"/>
            <a:ext cx="11155680" cy="38008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60120" y="5513832"/>
            <a:ext cx="10241280" cy="502920"/>
          </a:xfrm>
          <a:prstGeom prst="roundRect">
            <a:avLst>
              <a:gd name="adj" fmla="val 10909"/>
            </a:avLst>
          </a:prstGeom>
          <a:solidFill>
            <a:srgbClr val="EAF2F8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5650992"/>
            <a:ext cx="9875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Восстановленная нагрузка дает похожую общую картину деформированно-напряженного состояния, но не контролирует зазор и не заменяет контактную постановку.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Неогуковская модель материала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900" dirty="0"/>
          </a:p>
        </p:txBody>
      </p:sp>
      <p:pic>
        <p:nvPicPr>
          <p:cNvPr id="7" name="Image 0" descr="/mnt/data/ppt_media/ppt/media/image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1405"/>
            <a:ext cx="11155680" cy="38008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60120" y="5513832"/>
            <a:ext cx="10241280" cy="502920"/>
          </a:xfrm>
          <a:prstGeom prst="roundRect">
            <a:avLst>
              <a:gd name="adj" fmla="val 10909"/>
            </a:avLst>
          </a:prstGeom>
          <a:solidFill>
            <a:srgbClr val="EAF2F8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5650992"/>
            <a:ext cx="9875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Материал описан через энергию конечных деформаций; параметры заданы модулем сдвига μ и объемным модулем K.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Штрафной метод контактного взаимодействия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900" dirty="0"/>
          </a:p>
        </p:txBody>
      </p:sp>
      <p:pic>
        <p:nvPicPr>
          <p:cNvPr id="7" name="Image 0" descr="/mnt/data/ppt_media/ppt/media/image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1405"/>
            <a:ext cx="11155680" cy="38008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60120" y="5513832"/>
            <a:ext cx="10241280" cy="502920"/>
          </a:xfrm>
          <a:prstGeom prst="roundRect">
            <a:avLst>
              <a:gd name="adj" fmla="val 10909"/>
            </a:avLst>
          </a:prstGeom>
          <a:solidFill>
            <a:srgbClr val="EAF2F8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5650992"/>
            <a:ext cx="9875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Контактная реакция пропорциональна прониканию; метод прост и устойчив, но допускает конечное нарушение условия непроникновения.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Модифицированный метод Лагранжа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900" dirty="0"/>
          </a:p>
        </p:txBody>
      </p:sp>
      <p:pic>
        <p:nvPicPr>
          <p:cNvPr id="7" name="Image 0" descr="/mnt/data/ppt_media/ppt/media/image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1405"/>
            <a:ext cx="11155680" cy="38008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60120" y="5513832"/>
            <a:ext cx="10241280" cy="502920"/>
          </a:xfrm>
          <a:prstGeom prst="roundRect">
            <a:avLst>
              <a:gd name="adj" fmla="val 10909"/>
            </a:avLst>
          </a:prstGeom>
          <a:solidFill>
            <a:srgbClr val="EAF2F8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5650992"/>
            <a:ext cx="9875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Контактное давление уточняется через множители Лагранжа и штрафную стабилизацию, поэтому проникание подавляется значительно сильнее.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Внешний и внутренний циклы контактного решения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900" dirty="0"/>
          </a:p>
        </p:txBody>
      </p:sp>
      <p:pic>
        <p:nvPicPr>
          <p:cNvPr id="7" name="Image 0" descr="/mnt/data/ppt_media/ppt/media/image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1405"/>
            <a:ext cx="11155680" cy="38008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60120" y="5513832"/>
            <a:ext cx="10241280" cy="502920"/>
          </a:xfrm>
          <a:prstGeom prst="roundRect">
            <a:avLst>
              <a:gd name="adj" fmla="val 10909"/>
            </a:avLst>
          </a:prstGeom>
          <a:solidFill>
            <a:srgbClr val="EAF2F8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5650992"/>
            <a:ext cx="9875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Внутренний цикл ищет равновесие тела, внешний цикл уточняет активную область контакта и контактные множители.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0</ns0:Words>
  <ns0:Application>Microsoft Office PowerPoint</ns0:Application>
  <ns0:PresentationFormat>On-screen Show (16:9)</ns0:PresentationFormat>
  <ns0:Paragraphs>0</ns0:Paragraphs>
  <ns0:Slides>15</ns0:Slides>
  <ns0:Notes>11</ns0:Notes>
  <ns0:HiddenSlides>0</ns0:HiddenSlides>
  <ns0:MMClips>0</ns0:MMClips>
  <ns0:ScaleCrop>false</ns0:ScaleCrop>
  <ns0:HeadingPairs>
    <ns1:vector size="6" baseType="variant">
      <ns1:variant>
        <ns1:lpstr>Fonts Used</ns1:lpstr>
      </ns1:variant>
      <ns1:variant>
        <ns1:i4>2</ns1:i4>
      </ns1:variant>
      <ns1:variant>
        <ns1:lpstr>Theme</ns1:lpstr>
      </ns1:variant>
      <ns1:variant>
        <ns1:i4>1</ns1:i4>
      </ns1:variant>
      <ns1:variant>
        <ns1:lpstr>Slide Titles</ns1:lpstr>
      </ns1:variant>
      <ns1:variant>
        <ns1:i4>11</ns1:i4>
      </ns1:variant>
    </ns1:vector>
  </ns0:HeadingPairs>
  <ns0:TitlesOfParts>
    <ns1:vector size="14" baseType="lpstr">
      <ns1:lpstr>Arial</ns1:lpstr>
      <ns1:lpstr>Calibri</ns1:lpstr>
      <ns1:lpstr>Office Theme</ns1:lpstr>
      <ns1:lpstr>Slide 1</ns1:lpstr>
      <ns1:lpstr>Slide 2</ns1:lpstr>
      <ns1:lpstr>Slide 3</ns1:lpstr>
      <ns1:lpstr>Slide 4</ns1:lpstr>
      <ns1:lpstr>Slide 5</ns1:lpstr>
      <ns1:lpstr>Slide 6</ns1:lpstr>
      <ns1:lpstr>Slide 7</ns1:lpstr>
      <ns1:lpstr>Slide 8</ns1:lpstr>
      <ns1:lpstr>Slide 9</ns1:lpstr>
      <ns1:lpstr>Slide 10</ns1:lpstr>
      <ns1:lpstr>Slide 11</ns1:lpstr>
    </ns1:vector>
  </ns0:TitlesOfParts>
  <ns0:Company>МГТУ им. Н.Э. Баумана</ns0:Company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Решение контактной задачи массивной шины с плоской опорной поверхностью</dc:title>
  <dc:subject>Решение контактной задачи массивной шины</dc:subject>
  <dc:creator>OpenAI</dc:creator>
  <cp:lastModifiedBy>OpenAI</cp:lastModifiedBy>
  <cp:revision>1</cp:revision>
  <dcterms:created xsi:type="dcterms:W3CDTF">2026-06-04T18:28:43Z</dcterms:created>
  <dcterms:modified xsi:type="dcterms:W3CDTF">2026-06-04T18:28:43Z</dcterms:modified>
</cp:coreProperties>
</file>