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7" r:id="rId5"/>
    <p:sldId id="268" r:id="rId6"/>
    <p:sldId id="269" r:id="rId7"/>
    <p:sldId id="270" r:id="rId8"/>
    <p:sldId id="271" r:id="rId9"/>
    <p:sldId id="272" r:id="rId10"/>
    <p:sldId id="261" r:id="rId11"/>
    <p:sldId id="273" r:id="rId12"/>
    <p:sldId id="274" r:id="rId13"/>
    <p:sldId id="275" r:id="rId14"/>
    <p:sldId id="276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20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/mnt/data/ppt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86652"/>
            <a:ext cx="1325880" cy="1325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58952"/>
            <a:ext cx="9509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науки и высшего образования Российской Федерации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МГТУ им. Н.Э. Баумана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Факультет «Робототехника и комплексная автоматизация»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Кафедра «Прикладная механика (РК-5)»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108813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2148840"/>
            <a:ext cx="10652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массивной шины с плоской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опорной поверхностью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10652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Выпускная квалификационная работа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937760"/>
            <a:ext cx="10469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Выполнил: студент группы РК5-81Б  Миронов М.В.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 ВКР: Семенов В.К.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10469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Москва,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Постановка задачи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pic>
        <p:nvPicPr>
          <p:cNvPr id="7" name="Image 0" descr="/mnt/data/ppt_media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76709"/>
            <a:ext cx="4480560" cy="2338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59352"/>
            <a:ext cx="4206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Схема: кольцевой сектор шины и жесткая плоскость</a:t>
            </a:r>
            <a:endParaRPr lang="en-US" sz="1050" dirty="0"/>
          </a:p>
        </p:txBody>
      </p:sp>
      <p:pic>
        <p:nvPicPr>
          <p:cNvPr id="9" name="Image 1" descr="/mnt/data/ppt_media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433" y="4315968"/>
            <a:ext cx="2466975" cy="160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5925312"/>
            <a:ext cx="42062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Q4-сетка с локальным сгущением в зоне контакта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257800" y="96012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13248" y="106070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Расчетная схема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13248" y="1417320"/>
            <a:ext cx="2423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плоская деформация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гладкий контакт без трения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жесткая опорная плоскость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закрепленный внутренний контур</a:t>
            </a:r>
            <a:endParaRPr lang="en-US" sz="1270" dirty="0"/>
          </a:p>
        </p:txBody>
      </p:sp>
      <p:sp>
        <p:nvSpPr>
          <p:cNvPr id="14" name="Shape 10"/>
          <p:cNvSpPr/>
          <p:nvPr/>
        </p:nvSpPr>
        <p:spPr>
          <a:xfrm>
            <a:off x="8275320" y="96012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58200" y="1060704"/>
            <a:ext cx="3063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Размеры и нагружение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03920" y="1399032"/>
            <a:ext cx="1417320" cy="1828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49640" y="144932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Параметр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9921240" y="1399032"/>
            <a:ext cx="1554480" cy="1828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0" y="144932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Значение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8503920" y="1581912"/>
            <a:ext cx="141732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49640" y="16322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R₀</a:t>
            </a:r>
            <a:endParaRPr lang="en-US" sz="1130" dirty="0"/>
          </a:p>
        </p:txBody>
      </p:sp>
      <p:sp>
        <p:nvSpPr>
          <p:cNvPr id="22" name="Shape 18"/>
          <p:cNvSpPr/>
          <p:nvPr/>
        </p:nvSpPr>
        <p:spPr>
          <a:xfrm>
            <a:off x="9921240" y="1581912"/>
            <a:ext cx="155448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966960" y="163220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 мм</a:t>
            </a:r>
            <a:endParaRPr lang="en-US" sz="1130" dirty="0"/>
          </a:p>
        </p:txBody>
      </p:sp>
      <p:sp>
        <p:nvSpPr>
          <p:cNvPr id="24" name="Shape 20"/>
          <p:cNvSpPr/>
          <p:nvPr/>
        </p:nvSpPr>
        <p:spPr>
          <a:xfrm>
            <a:off x="8503920" y="1764792"/>
            <a:ext cx="141732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49640" y="18150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130" dirty="0"/>
          </a:p>
        </p:txBody>
      </p:sp>
      <p:sp>
        <p:nvSpPr>
          <p:cNvPr id="26" name="Shape 22"/>
          <p:cNvSpPr/>
          <p:nvPr/>
        </p:nvSpPr>
        <p:spPr>
          <a:xfrm>
            <a:off x="9921240" y="1764792"/>
            <a:ext cx="155448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966960" y="181508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 мм</a:t>
            </a:r>
            <a:endParaRPr lang="en-US" sz="1130" dirty="0"/>
          </a:p>
        </p:txBody>
      </p:sp>
      <p:sp>
        <p:nvSpPr>
          <p:cNvPr id="28" name="Shape 24"/>
          <p:cNvSpPr/>
          <p:nvPr/>
        </p:nvSpPr>
        <p:spPr>
          <a:xfrm>
            <a:off x="8503920" y="1947672"/>
            <a:ext cx="141732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49640" y="19979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g₀</a:t>
            </a:r>
            <a:endParaRPr lang="en-US" sz="1130" dirty="0"/>
          </a:p>
        </p:txBody>
      </p:sp>
      <p:sp>
        <p:nvSpPr>
          <p:cNvPr id="30" name="Shape 26"/>
          <p:cNvSpPr/>
          <p:nvPr/>
        </p:nvSpPr>
        <p:spPr>
          <a:xfrm>
            <a:off x="9921240" y="1947672"/>
            <a:ext cx="1554480" cy="1828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966960" y="199796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мм</a:t>
            </a:r>
            <a:endParaRPr lang="en-US" sz="1130" dirty="0"/>
          </a:p>
        </p:txBody>
      </p:sp>
      <p:sp>
        <p:nvSpPr>
          <p:cNvPr id="32" name="Shape 28"/>
          <p:cNvSpPr/>
          <p:nvPr/>
        </p:nvSpPr>
        <p:spPr>
          <a:xfrm>
            <a:off x="8503920" y="2130552"/>
            <a:ext cx="141732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549640" y="218084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Δuᵧ</a:t>
            </a:r>
            <a:endParaRPr lang="en-US" sz="1130" dirty="0"/>
          </a:p>
        </p:txBody>
      </p:sp>
      <p:sp>
        <p:nvSpPr>
          <p:cNvPr id="34" name="Shape 30"/>
          <p:cNvSpPr/>
          <p:nvPr/>
        </p:nvSpPr>
        <p:spPr>
          <a:xfrm>
            <a:off x="9921240" y="2130552"/>
            <a:ext cx="1554480" cy="1828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966960" y="218084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мм</a:t>
            </a:r>
            <a:endParaRPr lang="en-US" sz="1130" dirty="0"/>
          </a:p>
        </p:txBody>
      </p:sp>
      <p:sp>
        <p:nvSpPr>
          <p:cNvPr id="36" name="Shape 32"/>
          <p:cNvSpPr/>
          <p:nvPr/>
        </p:nvSpPr>
        <p:spPr>
          <a:xfrm>
            <a:off x="5257800" y="269748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413248" y="279806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Материал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5413248" y="3127248"/>
            <a:ext cx="24231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сжимаемая неогуковская модель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почти несжимаемый режим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ν = 0,48</a:t>
            </a:r>
            <a:endParaRPr lang="en-US" sz="1270" dirty="0"/>
          </a:p>
        </p:txBody>
      </p:sp>
      <p:sp>
        <p:nvSpPr>
          <p:cNvPr id="39" name="Shape 35"/>
          <p:cNvSpPr/>
          <p:nvPr/>
        </p:nvSpPr>
        <p:spPr>
          <a:xfrm>
            <a:off x="8503920" y="2880360"/>
            <a:ext cx="1417320" cy="2590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549640" y="2930652"/>
            <a:ext cx="13258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120" dirty="0"/>
          </a:p>
        </p:txBody>
      </p:sp>
      <p:sp>
        <p:nvSpPr>
          <p:cNvPr id="41" name="Shape 37"/>
          <p:cNvSpPr/>
          <p:nvPr/>
        </p:nvSpPr>
        <p:spPr>
          <a:xfrm>
            <a:off x="9921240" y="2880360"/>
            <a:ext cx="1554480" cy="259080"/>
          </a:xfrm>
          <a:prstGeom prst="rect">
            <a:avLst/>
          </a:prstGeom>
          <a:solidFill>
            <a:srgbClr val="1F4E79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966960" y="2930652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11,84 МПа</a:t>
            </a:r>
            <a:endParaRPr lang="en-US" sz="1120" dirty="0"/>
          </a:p>
        </p:txBody>
      </p:sp>
      <p:sp>
        <p:nvSpPr>
          <p:cNvPr id="43" name="Shape 39"/>
          <p:cNvSpPr/>
          <p:nvPr/>
        </p:nvSpPr>
        <p:spPr>
          <a:xfrm>
            <a:off x="8503920" y="3139440"/>
            <a:ext cx="1417320" cy="2590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49640" y="3189732"/>
            <a:ext cx="13258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μ</a:t>
            </a:r>
            <a:endParaRPr lang="en-US" sz="1130" dirty="0"/>
          </a:p>
        </p:txBody>
      </p:sp>
      <p:sp>
        <p:nvSpPr>
          <p:cNvPr id="45" name="Shape 41"/>
          <p:cNvSpPr/>
          <p:nvPr/>
        </p:nvSpPr>
        <p:spPr>
          <a:xfrm>
            <a:off x="9921240" y="3139440"/>
            <a:ext cx="1554480" cy="259080"/>
          </a:xfrm>
          <a:prstGeom prst="rect">
            <a:avLst/>
          </a:prstGeom>
          <a:solidFill>
            <a:srgbClr val="FFFFFF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966960" y="3189732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4,0 МПа</a:t>
            </a:r>
            <a:endParaRPr lang="en-US" sz="1130" dirty="0"/>
          </a:p>
        </p:txBody>
      </p:sp>
      <p:sp>
        <p:nvSpPr>
          <p:cNvPr id="47" name="Shape 43"/>
          <p:cNvSpPr/>
          <p:nvPr/>
        </p:nvSpPr>
        <p:spPr>
          <a:xfrm>
            <a:off x="8503920" y="3398520"/>
            <a:ext cx="1417320" cy="2590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549640" y="3448812"/>
            <a:ext cx="13258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130" dirty="0"/>
          </a:p>
        </p:txBody>
      </p:sp>
      <p:sp>
        <p:nvSpPr>
          <p:cNvPr id="49" name="Shape 45"/>
          <p:cNvSpPr/>
          <p:nvPr/>
        </p:nvSpPr>
        <p:spPr>
          <a:xfrm>
            <a:off x="9921240" y="3398520"/>
            <a:ext cx="1554480" cy="259080"/>
          </a:xfrm>
          <a:prstGeom prst="rect">
            <a:avLst/>
          </a:prstGeom>
          <a:solidFill>
            <a:srgbClr val="F7FAFC"/>
          </a:solidFill>
          <a:ln w="5715">
            <a:solidFill>
              <a:srgbClr val="C7D3D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966960" y="3448812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98,67 МПа</a:t>
            </a:r>
            <a:endParaRPr lang="en-US" sz="1130" dirty="0"/>
          </a:p>
        </p:txBody>
      </p:sp>
      <p:sp>
        <p:nvSpPr>
          <p:cNvPr id="51" name="Shape 47"/>
          <p:cNvSpPr/>
          <p:nvPr/>
        </p:nvSpPr>
        <p:spPr>
          <a:xfrm>
            <a:off x="5257800" y="4370832"/>
            <a:ext cx="6446520" cy="1078992"/>
          </a:xfrm>
          <a:prstGeom prst="roundRect">
            <a:avLst>
              <a:gd name="adj" fmla="val 5085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486400" y="4498848"/>
            <a:ext cx="5989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Используемые методы решения контактной задачи</a:t>
            </a:r>
            <a:endParaRPr lang="en-US" sz="1430" dirty="0"/>
          </a:p>
        </p:txBody>
      </p:sp>
      <p:sp>
        <p:nvSpPr>
          <p:cNvPr id="53" name="Text 49"/>
          <p:cNvSpPr/>
          <p:nvPr/>
        </p:nvSpPr>
        <p:spPr>
          <a:xfrm>
            <a:off x="5532120" y="4864608"/>
            <a:ext cx="57150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 метод</a:t>
            </a:r>
            <a:endParaRPr lang="en-US" sz="1280" dirty="0"/>
          </a:p>
          <a:p>
            <a:r>
              <a:rPr lang="en-US" sz="12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1280" dirty="0"/>
          </a:p>
          <a:p>
            <a:r>
              <a:rPr lang="en-US" sz="128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бесконтактная аппроксимация после восстановления давления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Геометрический зазор и активный контакт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Image 0" descr="/mnt/data/ppt_media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22815"/>
            <a:ext cx="6583680" cy="40466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078992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1232" y="1207008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Нормальный зазор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1627632"/>
            <a:ext cx="3246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gₙ = n · (x − xₚₗ)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60920" y="2697480"/>
            <a:ext cx="4160520" cy="1572768"/>
          </a:xfrm>
          <a:prstGeom prst="roundRect">
            <a:avLst>
              <a:gd name="adj" fmla="val 3488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71232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Состояния точки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26680" y="3246120"/>
            <a:ext cx="35661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gₙ &gt; 0: отрыв, pₙ = 0</a:t>
            </a:r>
            <a:endParaRPr lang="en-US" sz="1450" dirty="0"/>
          </a:p>
          <a:p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gₙ = 0: касание</a:t>
            </a:r>
            <a:endParaRPr lang="en-US" sz="1450" dirty="0"/>
          </a:p>
          <a:p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pₙ &gt; 0: активный контакт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360920" y="4590288"/>
            <a:ext cx="4160520" cy="1024128"/>
          </a:xfrm>
          <a:prstGeom prst="roundRect">
            <a:avLst>
              <a:gd name="adj" fmla="val 5357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828032"/>
            <a:ext cx="3611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Нелинейность возникает потому, что активная часть границы определяется только в процессе решения.</a:t>
            </a:r>
            <a:endParaRPr lang="en-US" sz="1420" dirty="0"/>
          </a:p>
        </p:txBody>
      </p:sp>
      <p:sp>
        <p:nvSpPr>
          <p:cNvPr id="16" name="Normal Gap Source"/>
          <p:cNvSpPr txBox="1"/>
          <p:nvPr/>
        </p:nvSpPr>
        <p:spPr>
          <a:xfrm>
            <a:off x="502920" y="5372100"/>
            <a:ext cx="6583680" cy="275000"/>
          </a:xfrm>
          <a:prstGeom prst="rect">
            <a:avLst/>
          </a:prstGeom>
        </p:spPr>
        <p:txBody>
          <a:bodyPr wrap="square" rtlCol="0" anchor="t"/>
          <a:lstStyle/>
          <a:p>
            <a:pPr algn="just">
              <a:spcAft>
                <a:spcPts val="850"/>
              </a:spcAft>
            </a:pPr>
            <a:r>
              <a:rPr lang="ru-RU" sz="900">
                <a:latin typeface="Times New Roman"/>
                <a:cs typeface="Times New Roman"/>
              </a:rPr>
              <a:t>Источник рисунка: S. Yamaguchi, Y. Sugawara, M. Takeda, Discover Applied Sciences, 2021, Fig. 2, CC BY 4.0.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Неогуковская модель материала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Материал описан через энергию конечных деформаций; параметры заданы модулем сдвига μ и объемным модулем 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Штрафной метод контактного взаимодействия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Контактная реакция пропорциональна прониканию; метод прост и устойчив, но допускает конечное нарушение условия непроникновения.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Контактное давление уточняется через множители Лагранжа и штрафную стабилизацию, поэтому проникание подавляется значительно сильнее.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и внутренний циклы контактного решения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Внутренний цикл ищет равновесие тела, внешний цикл уточняет активную область контакта и контактные множители.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Чувствительность методов к параметру и сетке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Серия расчетов показывает компромисс: штрафной метод проще и устойчивее, модифицированный метод Лагранжа лучше подавляет проникание, но требует более дорогой итерационной настройки.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Финальное сравнение контактных постановок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Интегральная реакция и пятно контакта близки; главное отличие проявляется в контроле проникания и вычислительной цене метода.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Локальная картина контакта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/mnt/data/ppt_media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0680"/>
            <a:ext cx="6766560" cy="44451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987552"/>
            <a:ext cx="3886200" cy="1024128"/>
          </a:xfrm>
          <a:prstGeom prst="roundRect">
            <a:avLst>
              <a:gd name="adj" fmla="val 5357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1133856"/>
            <a:ext cx="3429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одной реакции мало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26680" y="1536192"/>
            <a:ext cx="3337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RN — только интеграл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важна форма эпюры давления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локальные максимумы задают зоны напряжений</a:t>
            </a:r>
            <a:endParaRPr lang="en-US" sz="1270" dirty="0"/>
          </a:p>
        </p:txBody>
      </p:sp>
      <p:sp>
        <p:nvSpPr>
          <p:cNvPr id="11" name="Shape 8"/>
          <p:cNvSpPr/>
          <p:nvPr/>
        </p:nvSpPr>
        <p:spPr>
          <a:xfrm>
            <a:off x="7498080" y="2423160"/>
            <a:ext cx="3886200" cy="1133856"/>
          </a:xfrm>
          <a:prstGeom prst="roundRect">
            <a:avLst>
              <a:gd name="adj" fmla="val 4839"/>
            </a:avLst>
          </a:prstGeom>
          <a:solidFill>
            <a:srgbClr val="F7FAFC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2578608"/>
            <a:ext cx="3429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модифицированного метода Лагранжа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26680" y="2990088"/>
            <a:ext cx="3337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pmax = 5,90587 МПа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полуширина пятна 61,05 мм</a:t>
            </a:r>
            <a:endParaRPr lang="en-US" sz="1270" dirty="0"/>
          </a:p>
          <a:p>
            <a:r>
              <a:rPr lang="en-US" sz="12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давление задает локальное нагружение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7498080" y="4041648"/>
            <a:ext cx="3886200" cy="1069848"/>
          </a:xfrm>
          <a:prstGeom prst="roundRect">
            <a:avLst>
              <a:gd name="adj" fmla="val 5128"/>
            </a:avLst>
          </a:prstGeom>
          <a:solidFill>
            <a:srgbClr val="FFF5DB"/>
          </a:solidFill>
          <a:ln w="8890">
            <a:solidFill>
              <a:srgbClr val="E0C2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4279392"/>
            <a:ext cx="34290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Модифицированный метод Лагранжа выбран как уточняющая постановка, потому что точнее выполняет непроникновение.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Деформированное состояние: модифицированный метод Лагранжа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Расчет показывает конечные деформации шины в зоне контакта; det(F) остается близким к единице, что соответствует почти несжимаемому материалу.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Напряженное состояние: модифицированный метод Лагранжа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Максимальные напряжения локализуются в зоне контакта и переходных участках кольцевого сектора; картина соответствует изгибу и локальному сжатию шины.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Профили напряжений в сечениях шины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380" y="914399"/>
            <a:ext cx="9144000" cy="53480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Бесконтактная аппроксимация как дополнительная проверка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/mnt/data/ppt_media/ppt/media/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405"/>
            <a:ext cx="11155680" cy="38008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5513832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 w="8890">
            <a:solidFill>
              <a:srgbClr val="B6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Восстановленная нагрузка дает похожую общую картину деформированно-напряженного состояния, но не контролирует зазор и не заменяет контактную постановку.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25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Заключение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33856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61111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контактной задачи массивной шины с плоской опорной поверхностью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Conclusion Text"/>
          <p:cNvSpPr txBox="1"/>
          <p:nvPr/>
        </p:nvSpPr>
        <p:spPr>
          <a:xfrm>
            <a:off x="731520" y="1005840"/>
            <a:ext cx="10668000" cy="5166360"/>
          </a:xfrm>
          <a:prstGeom prst="rect">
            <a:avLst/>
          </a:prstGeom>
        </p:spPr>
        <p:txBody>
          <a:bodyPr wrap="square" rtlCol="0" anchor="t"/>
          <a:lstStyle/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В работе рассмотрена контактная задача массивной шины с жесткой плоской опорной поверхностью в конечно-деформационной постановке. Материал шины задан сжимаемой неогуковской моделью в почти несжимаемом режиме; контакт считается гладким, без трения, с неизвестной заранее активной областью.</a:t>
            </a:r>
          </a:p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Сравнение штрафного метода и модифицированного метода Лагранжа показало, что оба подхода дают близкую интегральную реакцию и близкую форму пятна контакта. Основное различие проявляется в качестве выполнения условия непроникновения: штрафной метод дешевле и устойчивее как инженерный расчет, а модифицированный метод Лагранжа существенно снижает проникание ценой большего числа итераций.</a:t>
            </a:r>
          </a:p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Для инженерной интерпретации контакта наиболее информативны не только суммарная реакция, но и распределение контактного давления по дуге, активная зона и поля напряжений в шине. Бесконтактная аппроксимация восстановленной нагрузкой подтверждает близость общей картины деформированно-напряженного состояния, но не заменяет контактную постановку.</a:t>
            </a:r>
          </a:p>
          <a:p>
            <a:pPr algn="just">
              <a:spcAft>
                <a:spcPts val="850"/>
              </a:spcAft>
            </a:pPr>
            <a:r>
              <a:rPr lang="ru-RU" sz="1800">
                <a:latin typeface="Times New Roman"/>
                <a:cs typeface="Times New Roman"/>
              </a:rPr>
              <a:t>Полученная модель является базовой расчетной схемой для дальнейшего развития: учета трения, смешанной u/p-постановки для почти несжимаемости, более сложных резиноподобных материалов и перехода к пространственной модели шины.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827</Words>
  <Application>Microsoft Office PowerPoint</Application>
  <PresentationFormat>Широкоэкранный</PresentationFormat>
  <Paragraphs>122</Paragraphs>
  <Slides>15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МГТУ им. Н.Э. Баумана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контактной задачи массивной шины с плоской опорной поверхностью</dc:title>
  <dc:subject>Решение контактной задачи массивной шины</dc:subject>
  <dc:creator>OpenAI</dc:creator>
  <cp:lastModifiedBy>Матвей Миронов</cp:lastModifiedBy>
  <cp:revision>2</cp:revision>
  <dcterms:created xsi:type="dcterms:W3CDTF">2026-06-04T18:28:43Z</dcterms:created>
  <dcterms:modified xsi:type="dcterms:W3CDTF">2026-06-06T01:44:22Z</dcterms:modified>
</cp:coreProperties>
</file>